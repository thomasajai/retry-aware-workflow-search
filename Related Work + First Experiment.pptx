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90" r:id="rId13"/>
    <p:sldId id="291" r:id="rId14"/>
    <p:sldId id="292" r:id="rId15"/>
    <p:sldId id="293" r:id="rId16"/>
    <p:sldId id="294" r:id="rId17"/>
    <p:sldId id="295" r:id="rId18"/>
    <p:sldId id="296" r:id="rId19"/>
    <p:sldId id="298" r:id="rId20"/>
  </p:sldIdLst>
  <p:sldSz cx="9144000" cy="5143500" type="screen16x9"/>
  <p:notesSz cx="6858000" cy="9144000"/>
  <p:embeddedFontLst>
    <p:embeddedFont>
      <p:font typeface="Lexend" panose="020B0604020202020204" charset="0"/>
      <p:regular r:id="rId22"/>
      <p:bold r:id="rId23"/>
    </p:embeddedFont>
    <p:embeddedFont>
      <p:font typeface="Newsreader"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5B771A-F4CE-4A5D-8BB7-1901835EE9D4}">
  <a:tblStyle styleId="{ED5B771A-F4CE-4A5D-8BB7-1901835EE9D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82" y="11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Shared class deck. Slides 2–3 contain instructions; teams duplicate slides 4–9 and append their completed slides. The bracketed prompts are intentional editable template fields. Based on Kostis's September 18 update and slides 2–6 of Project Pitches.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h5089178f2f216141_8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h5089178f2f216141_8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week2_brief: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week2_brief: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week2_delivery: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week2_delivery: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week2_team: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week2_team: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week2_papers: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week2_paper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week2_baselines: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week2_baseline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week2_question: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week2_question: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week2_setu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week2_setu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week2_results: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week2_results: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h56da359a78dc5558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h56da359a78dc5558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h56da359a78dc5558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h56da359a78dc5558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Anastasis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h56da359a78dc5558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h56da359a78dc5558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6da359a78dc5558_2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h56da359a78dc5558_2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h5089178f2f216141_112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h5089178f2f216141_11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h56da359a78dc5558_25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h56da359a78dc5558_2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h56da359a78dc5558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h56da359a78dc5558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h56da359a78dc5558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h56da359a78dc5558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Font typeface="Lexend"/>
              <a:buNone/>
              <a:defRPr sz="5200">
                <a:latin typeface="Lexend"/>
                <a:ea typeface="Lexend"/>
                <a:cs typeface="Lexend"/>
                <a:sym typeface="Lexen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7" name="Google Shape;57;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 name="Google Shape;5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1" name="Google Shape;6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4" name="Google Shape;6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5" name="Google Shape;6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8" name="Google Shape;68;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0" name="Google Shape;70;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6" name="Google Shape;76;p2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0" name="Google Shape;8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1"/>
        <p:cNvGrpSpPr/>
        <p:nvPr/>
      </p:nvGrpSpPr>
      <p:grpSpPr>
        <a:xfrm>
          <a:off x="0" y="0"/>
          <a:ext cx="0" cy="0"/>
          <a:chOff x="0" y="0"/>
          <a:chExt cx="0" cy="0"/>
        </a:xfrm>
      </p:grpSpPr>
      <p:sp>
        <p:nvSpPr>
          <p:cNvPr id="82" name="Google Shape;82;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4" name="Google Shape;84;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5" name="Google Shape;85;p2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6" name="Google Shape;8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9" name="Google Shape;8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sp>
        <p:nvSpPr>
          <p:cNvPr id="91" name="Google Shape;91;p2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2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3" name="Google Shape;93;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4"/>
        <p:cNvGrpSpPr/>
        <p:nvPr/>
      </p:nvGrpSpPr>
      <p:grpSpPr>
        <a:xfrm>
          <a:off x="0" y="0"/>
          <a:ext cx="0" cy="0"/>
          <a:chOff x="0" y="0"/>
          <a:chExt cx="0" cy="0"/>
        </a:xfrm>
      </p:grpSpPr>
      <p:sp>
        <p:nvSpPr>
          <p:cNvPr id="95" name="Google Shape;9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Newsreader"/>
              <a:buNone/>
              <a:defRPr sz="2800">
                <a:solidFill>
                  <a:schemeClr val="dk1"/>
                </a:solidFill>
                <a:latin typeface="Newsreader"/>
                <a:ea typeface="Newsreader"/>
                <a:cs typeface="Newsreader"/>
                <a:sym typeface="Newsread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3" name="Google Shape;53;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Newsreader"/>
              <a:buChar char="●"/>
              <a:defRPr sz="1800">
                <a:solidFill>
                  <a:schemeClr val="dk2"/>
                </a:solidFill>
                <a:latin typeface="Newsreader"/>
                <a:ea typeface="Newsreader"/>
                <a:cs typeface="Newsreader"/>
                <a:sym typeface="Newsreader"/>
              </a:defRPr>
            </a:lvl1pPr>
            <a:lvl2pPr marL="914400" lvl="1"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2pPr>
            <a:lvl3pPr marL="1371600" lvl="2"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3pPr>
            <a:lvl4pPr marL="1828800" lvl="3"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4pPr>
            <a:lvl5pPr marL="2286000" lvl="4"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5pPr>
            <a:lvl6pPr marL="2743200" lvl="5"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6pPr>
            <a:lvl7pPr marL="3200400" lvl="6"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7pPr>
            <a:lvl8pPr marL="3657600" lvl="7"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8pPr>
            <a:lvl9pPr marL="4114800" lvl="8" indent="-317500">
              <a:lnSpc>
                <a:spcPct val="115000"/>
              </a:lnSpc>
              <a:spcBef>
                <a:spcPts val="0"/>
              </a:spcBef>
              <a:spcAft>
                <a:spcPts val="0"/>
              </a:spcAft>
              <a:buClr>
                <a:schemeClr val="dk2"/>
              </a:buClr>
              <a:buSzPts val="1400"/>
              <a:buFont typeface="Newsreader"/>
              <a:buChar char="■"/>
              <a:defRPr>
                <a:solidFill>
                  <a:schemeClr val="dk2"/>
                </a:solidFill>
                <a:latin typeface="Newsreader"/>
                <a:ea typeface="Newsreader"/>
                <a:cs typeface="Newsreader"/>
                <a:sym typeface="Newsreader"/>
              </a:defRPr>
            </a:lvl9pPr>
          </a:lstStyle>
          <a:p>
            <a:endParaRPr/>
          </a:p>
        </p:txBody>
      </p:sp>
      <p:sp>
        <p:nvSpPr>
          <p:cNvPr id="54" name="Google Shape;5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2604.06296" TargetMode="External"/><Relationship Id="rId7" Type="http://schemas.openxmlformats.org/officeDocument/2006/relationships/hyperlink" Target="https://openreview.net/forum?id=vkG1xVVKOH"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arxiv.org/abs/2609.25645" TargetMode="External"/><Relationship Id="rId5" Type="http://schemas.openxmlformats.org/officeDocument/2006/relationships/hyperlink" Target="https://doi.org/10.48550/arXiv.2606.00774" TargetMode="External"/><Relationship Id="rId4" Type="http://schemas.openxmlformats.org/officeDocument/2006/relationships/hyperlink" Target="https://arxiv.org/abs/2605.23914"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Related Work +</a:t>
            </a:r>
            <a:endParaRPr/>
          </a:p>
          <a:p>
            <a:pPr marL="0" lvl="0" indent="0" algn="ctr" rtl="0">
              <a:spcBef>
                <a:spcPts val="0"/>
              </a:spcBef>
              <a:spcAft>
                <a:spcPts val="0"/>
              </a:spcAft>
              <a:buNone/>
            </a:pPr>
            <a:r>
              <a:rPr lang="en"/>
              <a:t>First Experiment</a:t>
            </a:r>
            <a:endParaRPr/>
          </a:p>
        </p:txBody>
      </p:sp>
      <p:sp>
        <p:nvSpPr>
          <p:cNvPr id="146" name="Google Shape;146;p3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September 25, 2026</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Updates + Next steps</a:t>
            </a:r>
            <a:endParaRPr/>
          </a:p>
        </p:txBody>
      </p:sp>
      <p:sp>
        <p:nvSpPr>
          <p:cNvPr id="152" name="Google Shape;152;p39"/>
          <p:cNvSpPr txBox="1">
            <a:spLocks noGrp="1"/>
          </p:cNvSpPr>
          <p:nvPr>
            <p:ph type="body" idx="1"/>
          </p:nvPr>
        </p:nvSpPr>
        <p:spPr>
          <a:xfrm>
            <a:off x="623400" y="1283119"/>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 Next week (10/2): NO CLASS</a:t>
            </a:r>
            <a:endParaRPr b="1"/>
          </a:p>
          <a:p>
            <a:pPr marL="0" lvl="0" indent="0" algn="l" rtl="0">
              <a:spcBef>
                <a:spcPts val="1200"/>
              </a:spcBef>
              <a:spcAft>
                <a:spcPts val="0"/>
              </a:spcAft>
              <a:buNone/>
            </a:pPr>
            <a:r>
              <a:rPr lang="en" b="1"/>
              <a:t>(10/9): </a:t>
            </a:r>
            <a:r>
              <a:rPr lang="en"/>
              <a:t>Present experiment results (for compute resources message Georgios and myself on Slack)</a:t>
            </a:r>
            <a:endParaRPr/>
          </a:p>
          <a:p>
            <a:pPr marL="0" lvl="0" indent="0" algn="l" rtl="0">
              <a:spcBef>
                <a:spcPts val="1200"/>
              </a:spcBef>
              <a:spcAft>
                <a:spcPts val="1200"/>
              </a:spcAft>
              <a:buNone/>
            </a:pPr>
            <a:r>
              <a:rPr lang="en" b="1"/>
              <a:t>After that: </a:t>
            </a:r>
            <a:r>
              <a:rPr lang="en"/>
              <a:t>Some weeks progress reports, some weeks student presentations about their comprehensive related work, some weeks instruct presentations.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TODOs: September 25</a:t>
            </a:r>
            <a:endParaRPr>
              <a:latin typeface="Newsreader"/>
              <a:ea typeface="Newsreader"/>
              <a:cs typeface="Newsreader"/>
              <a:sym typeface="Newsreader"/>
            </a:endParaRPr>
          </a:p>
        </p:txBody>
      </p:sp>
      <p:sp>
        <p:nvSpPr>
          <p:cNvPr id="158" name="Google Shape;158;p40"/>
          <p:cNvSpPr txBox="1">
            <a:spLocks noGrp="1"/>
          </p:cNvSpPr>
          <p:nvPr>
            <p:ph type="body" idx="1"/>
          </p:nvPr>
        </p:nvSpPr>
        <p:spPr>
          <a:xfrm>
            <a:off x="311700" y="1152475"/>
            <a:ext cx="8756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highlight>
                  <a:schemeClr val="accent6"/>
                </a:highlight>
                <a:latin typeface="Newsreader"/>
                <a:ea typeface="Newsreader"/>
                <a:cs typeface="Newsreader"/>
                <a:sym typeface="Newsreader"/>
              </a:rPr>
              <a:t>Copy and paste slides 4-9 at the end of this presentation with your own material.</a:t>
            </a:r>
            <a:endParaRPr b="1">
              <a:highlight>
                <a:schemeClr val="accent6"/>
              </a:highlight>
              <a:latin typeface="Newsreader"/>
              <a:ea typeface="Newsreader"/>
              <a:cs typeface="Newsreader"/>
              <a:sym typeface="Newsreader"/>
            </a:endParaRPr>
          </a:p>
          <a:p>
            <a:pPr marL="0" lvl="0" indent="0" algn="l" rtl="0">
              <a:spcBef>
                <a:spcPts val="1200"/>
              </a:spcBef>
              <a:spcAft>
                <a:spcPts val="0"/>
              </a:spcAft>
              <a:buNone/>
            </a:pPr>
            <a:r>
              <a:rPr lang="en" b="1">
                <a:latin typeface="Newsreader"/>
                <a:ea typeface="Newsreader"/>
                <a:cs typeface="Newsreader"/>
                <a:sym typeface="Newsreader"/>
              </a:rPr>
              <a:t>Related work / baselines  (5 minutes)</a:t>
            </a:r>
            <a:endParaRPr b="1">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Identify 4–5 closely related papers, choose the strongest 1–2 and explain why.</a:t>
            </a:r>
            <a:endParaRPr>
              <a:latin typeface="Newsreader"/>
              <a:ea typeface="Newsreader"/>
              <a:cs typeface="Newsreader"/>
              <a:sym typeface="Newsreader"/>
            </a:endParaRPr>
          </a:p>
          <a:p>
            <a:pPr marL="0" lvl="0" indent="0" algn="l" rtl="0">
              <a:spcBef>
                <a:spcPts val="1200"/>
              </a:spcBef>
              <a:spcAft>
                <a:spcPts val="0"/>
              </a:spcAft>
              <a:buNone/>
            </a:pPr>
            <a:r>
              <a:rPr lang="en" b="1">
                <a:latin typeface="Newsreader"/>
                <a:ea typeface="Newsreader"/>
                <a:cs typeface="Newsreader"/>
                <a:sym typeface="Newsreader"/>
              </a:rPr>
              <a:t>First experiment (5 minutes)</a:t>
            </a:r>
            <a:endParaRPr b="1">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Propose ONE experiment: question, comparison, and expected learning.</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Duplicate slides 4–9, fill in your answers, and append them to this deck.</a:t>
            </a:r>
            <a:endParaRPr>
              <a:latin typeface="Newsreader"/>
              <a:ea typeface="Newsreader"/>
              <a:cs typeface="Newsreader"/>
              <a:sym typeface="Newsreader"/>
            </a:endParaRPr>
          </a:p>
          <a:p>
            <a:pPr marL="0" lvl="0" indent="0" algn="l" rtl="0">
              <a:spcBef>
                <a:spcPts val="1200"/>
              </a:spcBef>
              <a:spcAft>
                <a:spcPts val="0"/>
              </a:spcAft>
              <a:buNone/>
            </a:pPr>
            <a:r>
              <a:rPr lang="en" b="1">
                <a:latin typeface="Newsreader"/>
                <a:ea typeface="Newsreader"/>
                <a:cs typeface="Newsreader"/>
                <a:sym typeface="Newsreader"/>
              </a:rPr>
              <a:t>October 2:</a:t>
            </a:r>
            <a:r>
              <a:rPr lang="en">
                <a:latin typeface="Newsreader"/>
                <a:ea typeface="Newsreader"/>
                <a:cs typeface="Newsreader"/>
                <a:sym typeface="Newsreader"/>
              </a:rPr>
              <a:t> no class. </a:t>
            </a:r>
            <a:endParaRPr>
              <a:latin typeface="Newsreader"/>
              <a:ea typeface="Newsreader"/>
              <a:cs typeface="Newsreader"/>
              <a:sym typeface="Newsreader"/>
            </a:endParaRPr>
          </a:p>
          <a:p>
            <a:pPr marL="0" lvl="0" indent="0" algn="l" rtl="0">
              <a:spcBef>
                <a:spcPts val="1200"/>
              </a:spcBef>
              <a:spcAft>
                <a:spcPts val="1200"/>
              </a:spcAft>
              <a:buNone/>
            </a:pPr>
            <a:r>
              <a:rPr lang="en" b="1">
                <a:latin typeface="Newsreader"/>
                <a:ea typeface="Newsreader"/>
                <a:cs typeface="Newsreader"/>
                <a:sym typeface="Newsreader"/>
              </a:rPr>
              <a:t>October 9: </a:t>
            </a:r>
            <a:r>
              <a:rPr lang="en">
                <a:latin typeface="Newsreader"/>
                <a:ea typeface="Newsreader"/>
                <a:cs typeface="Newsreader"/>
                <a:sym typeface="Newsreader"/>
              </a:rPr>
              <a:t>present experiment results.</a:t>
            </a:r>
            <a:endParaRPr>
              <a:latin typeface="Newsreader"/>
              <a:ea typeface="Newsreader"/>
              <a:cs typeface="Newsreader"/>
              <a:sym typeface="Newsread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Present your work clearly</a:t>
            </a:r>
            <a:endParaRPr>
              <a:latin typeface="Newsreader"/>
              <a:ea typeface="Newsreader"/>
              <a:cs typeface="Newsreader"/>
              <a:sym typeface="Newsreader"/>
            </a:endParaRPr>
          </a:p>
        </p:txBody>
      </p:sp>
      <p:sp>
        <p:nvSpPr>
          <p:cNvPr id="164" name="Google Shape;164;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Font typeface="Newsreader"/>
              <a:buChar char="●"/>
            </a:pPr>
            <a:r>
              <a:rPr lang="en">
                <a:latin typeface="Newsreader"/>
                <a:ea typeface="Newsreader"/>
                <a:cs typeface="Newsreader"/>
                <a:sym typeface="Newsreader"/>
              </a:rPr>
              <a:t>Decide who presents each part and plan the handoffs.</a:t>
            </a:r>
            <a:endParaRPr>
              <a:latin typeface="Newsreader"/>
              <a:ea typeface="Newsreader"/>
              <a:cs typeface="Newsreader"/>
              <a:sym typeface="Newsreader"/>
            </a:endParaRPr>
          </a:p>
          <a:p>
            <a:pPr marL="457200" lvl="0" indent="-342900" algn="l" rtl="0">
              <a:lnSpc>
                <a:spcPct val="150000"/>
              </a:lnSpc>
              <a:spcBef>
                <a:spcPts val="0"/>
              </a:spcBef>
              <a:spcAft>
                <a:spcPts val="0"/>
              </a:spcAft>
              <a:buSzPts val="1800"/>
              <a:buFont typeface="Newsreader"/>
              <a:buChar char="●"/>
            </a:pPr>
            <a:r>
              <a:rPr lang="en">
                <a:latin typeface="Newsreader"/>
                <a:ea typeface="Newsreader"/>
                <a:cs typeface="Newsreader"/>
                <a:sym typeface="Newsreader"/>
              </a:rPr>
              <a:t>Explain your points naturally and avoid reading from notes.</a:t>
            </a:r>
            <a:endParaRPr>
              <a:latin typeface="Newsreader"/>
              <a:ea typeface="Newsreader"/>
              <a:cs typeface="Newsreader"/>
              <a:sym typeface="Newsreader"/>
            </a:endParaRPr>
          </a:p>
          <a:p>
            <a:pPr marL="457200" lvl="0" indent="-342900" algn="l" rtl="0">
              <a:lnSpc>
                <a:spcPct val="150000"/>
              </a:lnSpc>
              <a:spcBef>
                <a:spcPts val="0"/>
              </a:spcBef>
              <a:spcAft>
                <a:spcPts val="0"/>
              </a:spcAft>
              <a:buSzPts val="1800"/>
              <a:buFont typeface="Newsreader"/>
              <a:buChar char="●"/>
            </a:pPr>
            <a:r>
              <a:rPr lang="en">
                <a:latin typeface="Newsreader"/>
                <a:ea typeface="Newsreader"/>
                <a:cs typeface="Newsreader"/>
                <a:sym typeface="Newsreader"/>
              </a:rPr>
              <a:t>Look at the audience, not the screen.</a:t>
            </a:r>
            <a:endParaRPr>
              <a:latin typeface="Newsreader"/>
              <a:ea typeface="Newsreader"/>
              <a:cs typeface="Newsreader"/>
              <a:sym typeface="Newsreader"/>
            </a:endParaRPr>
          </a:p>
          <a:p>
            <a:pPr marL="457200" lvl="0" indent="-342900" algn="l" rtl="0">
              <a:lnSpc>
                <a:spcPct val="150000"/>
              </a:lnSpc>
              <a:spcBef>
                <a:spcPts val="0"/>
              </a:spcBef>
              <a:spcAft>
                <a:spcPts val="0"/>
              </a:spcAft>
              <a:buSzPts val="1800"/>
              <a:buFont typeface="Newsreader"/>
              <a:buChar char="●"/>
            </a:pPr>
            <a:r>
              <a:rPr lang="en">
                <a:latin typeface="Newsreader"/>
                <a:ea typeface="Newsreader"/>
                <a:cs typeface="Newsreader"/>
                <a:sym typeface="Newsreader"/>
              </a:rPr>
              <a:t>Practice your part 4–5 times before class.</a:t>
            </a:r>
            <a:endParaRPr>
              <a:latin typeface="Newsreader"/>
              <a:ea typeface="Newsreader"/>
              <a:cs typeface="Newsreader"/>
              <a:sym typeface="Newsreader"/>
            </a:endParaRPr>
          </a:p>
          <a:p>
            <a:pPr marL="457200" lvl="0" indent="-342900" algn="l" rtl="0">
              <a:lnSpc>
                <a:spcPct val="150000"/>
              </a:lnSpc>
              <a:spcBef>
                <a:spcPts val="0"/>
              </a:spcBef>
              <a:spcAft>
                <a:spcPts val="0"/>
              </a:spcAft>
              <a:buSzPts val="1800"/>
              <a:buFont typeface="Newsreader"/>
              <a:buChar char="●"/>
            </a:pPr>
            <a:r>
              <a:rPr lang="en">
                <a:latin typeface="Newsreader"/>
                <a:ea typeface="Newsreader"/>
                <a:cs typeface="Newsreader"/>
                <a:sym typeface="Newsreader"/>
              </a:rPr>
              <a:t>Stay within time! (5+5 minutes)</a:t>
            </a:r>
            <a:endParaRPr>
              <a:latin typeface="Newsreader"/>
              <a:ea typeface="Newsreader"/>
              <a:cs typeface="Newsreader"/>
              <a:sym typeface="Newsread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 [Project title]</a:t>
            </a:r>
            <a:endParaRPr/>
          </a:p>
        </p:txBody>
      </p:sp>
      <p:sp>
        <p:nvSpPr>
          <p:cNvPr id="170" name="Google Shape;170;p4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[Team members]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1. Closest related work</a:t>
            </a:r>
            <a:endParaRPr>
              <a:latin typeface="Newsreader"/>
              <a:ea typeface="Newsreader"/>
              <a:cs typeface="Newsreader"/>
              <a:sym typeface="Newsreader"/>
            </a:endParaRPr>
          </a:p>
        </p:txBody>
      </p:sp>
      <p:sp>
        <p:nvSpPr>
          <p:cNvPr id="176" name="Google Shape;176;p43"/>
          <p:cNvSpPr txBox="1">
            <a:spLocks noGrp="1"/>
          </p:cNvSpPr>
          <p:nvPr>
            <p:ph type="body" idx="1"/>
          </p:nvPr>
        </p:nvSpPr>
        <p:spPr>
          <a:xfrm>
            <a:off x="311700" y="1152475"/>
            <a:ext cx="8570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Identify 4–5 papers. For each: citation/link, relevance, and baseline potential.</a:t>
            </a:r>
            <a:endParaRPr>
              <a:latin typeface="Newsreader"/>
              <a:ea typeface="Newsreader"/>
              <a:cs typeface="Newsreader"/>
              <a:sym typeface="Newsreader"/>
            </a:endParaRPr>
          </a:p>
          <a:p>
            <a:pPr marL="0" lvl="0" indent="0" algn="l" rtl="0">
              <a:spcBef>
                <a:spcPts val="1200"/>
              </a:spcBef>
              <a:spcAft>
                <a:spcPts val="0"/>
              </a:spcAft>
              <a:buNone/>
            </a:pPr>
            <a:r>
              <a:rPr lang="en">
                <a:latin typeface="Newsreader"/>
                <a:ea typeface="Newsreader"/>
                <a:cs typeface="Newsreader"/>
                <a:sym typeface="Newsreader"/>
              </a:rPr>
              <a:t>[Paper 1: citation/link, what is it about (very briefly), closest connection, possible baseline]</a:t>
            </a:r>
            <a:endParaRPr>
              <a:latin typeface="Newsreader"/>
              <a:ea typeface="Newsreader"/>
              <a:cs typeface="Newsreader"/>
              <a:sym typeface="Newsreader"/>
            </a:endParaRPr>
          </a:p>
          <a:p>
            <a:pPr marL="0" lvl="0" indent="0" algn="l" rtl="0">
              <a:spcBef>
                <a:spcPts val="1200"/>
              </a:spcBef>
              <a:spcAft>
                <a:spcPts val="0"/>
              </a:spcAft>
              <a:buNone/>
            </a:pPr>
            <a:r>
              <a:rPr lang="en">
                <a:latin typeface="Newsreader"/>
                <a:ea typeface="Newsreader"/>
                <a:cs typeface="Newsreader"/>
                <a:sym typeface="Newsreader"/>
              </a:rPr>
              <a:t>[Paper 2: citation/link, what is it about (very briefly), closest connection, possible baseline]</a:t>
            </a:r>
            <a:endParaRPr>
              <a:latin typeface="Newsreader"/>
              <a:ea typeface="Newsreader"/>
              <a:cs typeface="Newsreader"/>
              <a:sym typeface="Newsreader"/>
            </a:endParaRPr>
          </a:p>
          <a:p>
            <a:pPr marL="0" lvl="0" indent="0" algn="l" rtl="0">
              <a:spcBef>
                <a:spcPts val="1200"/>
              </a:spcBef>
              <a:spcAft>
                <a:spcPts val="1200"/>
              </a:spcAft>
              <a:buClr>
                <a:schemeClr val="dk1"/>
              </a:buClr>
              <a:buSzPts val="1100"/>
              <a:buFont typeface="Arial"/>
              <a:buNone/>
            </a:pPr>
            <a:r>
              <a:rPr lang="en">
                <a:latin typeface="Newsreader"/>
                <a:ea typeface="Newsreader"/>
                <a:cs typeface="Newsreader"/>
                <a:sym typeface="Newsreader"/>
              </a:rPr>
              <a:t>…</a:t>
            </a:r>
            <a:endParaRPr>
              <a:latin typeface="Newsreader"/>
              <a:ea typeface="Newsreader"/>
              <a:cs typeface="Newsreader"/>
              <a:sym typeface="Newsread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2. Strongest baseline(s): why these?</a:t>
            </a:r>
            <a:endParaRPr>
              <a:latin typeface="Newsreader"/>
              <a:ea typeface="Newsreader"/>
              <a:cs typeface="Newsreader"/>
              <a:sym typeface="Newsreader"/>
            </a:endParaRPr>
          </a:p>
        </p:txBody>
      </p:sp>
      <p:sp>
        <p:nvSpPr>
          <p:cNvPr id="182" name="Google Shape;182;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Choose the strongest 1–2 papers from your shortlist.</a:t>
            </a:r>
            <a:endParaRPr>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Why are they the closest and strongest comparisons?</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can each do today? What limitation matters to your project?</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will you compare directly against each baseline?</a:t>
            </a:r>
            <a:endParaRPr>
              <a:latin typeface="Newsreader"/>
              <a:ea typeface="Newsreader"/>
              <a:cs typeface="Newsreader"/>
              <a:sym typeface="Newsread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3. First experiment: question + claim</a:t>
            </a:r>
            <a:endParaRPr>
              <a:latin typeface="Newsreader"/>
              <a:ea typeface="Newsreader"/>
              <a:cs typeface="Newsreader"/>
              <a:sym typeface="Newsreader"/>
            </a:endParaRPr>
          </a:p>
        </p:txBody>
      </p:sp>
      <p:sp>
        <p:nvSpPr>
          <p:cNvPr id="188" name="Google Shape;188;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What ONE question will this experiment answer?</a:t>
            </a:r>
            <a:endParaRPr>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State the claim or hypothesis before running anything.</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Is the problem real, and how large is the gap?</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result would make you reconsider the project?</a:t>
            </a:r>
            <a:endParaRPr>
              <a:latin typeface="Newsreader"/>
              <a:ea typeface="Newsreader"/>
              <a:cs typeface="Newsreader"/>
              <a:sym typeface="Newsread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4. First experiment: setup</a:t>
            </a:r>
            <a:endParaRPr>
              <a:latin typeface="Newsreader"/>
              <a:ea typeface="Newsreader"/>
              <a:cs typeface="Newsreader"/>
              <a:sym typeface="Newsreader"/>
            </a:endParaRPr>
          </a:p>
        </p:txBody>
      </p:sp>
      <p:sp>
        <p:nvSpPr>
          <p:cNvPr id="194" name="Google Shape;194;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Some questions to answer:</a:t>
            </a:r>
            <a:endParaRPr>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What system or approach will you test?</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is the strongest reasonable baseline?</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real or realistic workload/data will you use?</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will you vary, hold fixed, and measure?</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How will you keep the experiment small and automate it?</a:t>
            </a:r>
            <a:endParaRPr>
              <a:latin typeface="Newsreader"/>
              <a:ea typeface="Newsreader"/>
              <a:cs typeface="Newsreader"/>
              <a:sym typeface="Newsread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5. Expected figure + what we learn</a:t>
            </a:r>
            <a:endParaRPr>
              <a:latin typeface="Newsreader"/>
              <a:ea typeface="Newsreader"/>
              <a:cs typeface="Newsreader"/>
              <a:sym typeface="Newsreader"/>
            </a:endParaRPr>
          </a:p>
        </p:txBody>
      </p:sp>
      <p:sp>
        <p:nvSpPr>
          <p:cNvPr id="200" name="Google Shape;200;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Prepare the planned figure:</a:t>
            </a:r>
            <a:endParaRPr>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Sketch the planned figure, label axes, units, and comparisons.</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pattern would support your hypothesis?</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outcome would surprise you or challenge your claim?</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will you learn, and what would you do next?</a:t>
            </a:r>
            <a:endParaRPr>
              <a:latin typeface="Newsreader"/>
              <a:ea typeface="Newsreader"/>
              <a:cs typeface="Newsreader"/>
              <a:sym typeface="Newsreader"/>
            </a:endParaRPr>
          </a:p>
          <a:p>
            <a:pPr marL="0" lvl="0" indent="0" algn="l" rtl="0">
              <a:spcBef>
                <a:spcPts val="1200"/>
              </a:spcBef>
              <a:spcAft>
                <a:spcPts val="1200"/>
              </a:spcAft>
              <a:buNone/>
            </a:pPr>
            <a:r>
              <a:rPr lang="en">
                <a:latin typeface="Newsreader"/>
                <a:ea typeface="Newsreader"/>
                <a:cs typeface="Newsreader"/>
                <a:sym typeface="Newsreader"/>
              </a:rPr>
              <a:t>[Remember: For September 25: propose the experiment + one result (i.e. </a:t>
            </a:r>
            <a:r>
              <a:rPr lang="en" b="1">
                <a:latin typeface="Newsreader"/>
                <a:ea typeface="Newsreader"/>
                <a:cs typeface="Newsreader"/>
                <a:sym typeface="Newsreader"/>
              </a:rPr>
              <a:t>one</a:t>
            </a:r>
            <a:r>
              <a:rPr lang="en">
                <a:latin typeface="Newsreader"/>
                <a:ea typeface="Newsreader"/>
                <a:cs typeface="Newsreader"/>
                <a:sym typeface="Newsreader"/>
              </a:rPr>
              <a:t> column, line, subplot, etc.). You want to have the </a:t>
            </a:r>
            <a:r>
              <a:rPr lang="en" b="1">
                <a:latin typeface="Newsreader"/>
                <a:ea typeface="Newsreader"/>
                <a:cs typeface="Newsreader"/>
                <a:sym typeface="Newsreader"/>
              </a:rPr>
              <a:t>complete figure</a:t>
            </a:r>
            <a:r>
              <a:rPr lang="en">
                <a:latin typeface="Newsreader"/>
                <a:ea typeface="Newsreader"/>
                <a:cs typeface="Newsreader"/>
                <a:sym typeface="Newsreader"/>
              </a:rPr>
              <a:t> by October 9.</a:t>
            </a:r>
            <a:endParaRPr>
              <a:latin typeface="Newsreader"/>
              <a:ea typeface="Newsreader"/>
              <a:cs typeface="Newsreader"/>
              <a:sym typeface="Newsread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7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Newsreader"/>
                <a:ea typeface="Newsreader"/>
                <a:cs typeface="Newsreader"/>
                <a:sym typeface="Newsreader"/>
              </a:rPr>
              <a:t>18: Cost-Efficient Search for Agentic Workflows with Retries</a:t>
            </a:r>
            <a:endParaRPr/>
          </a:p>
        </p:txBody>
      </p:sp>
      <p:sp>
        <p:nvSpPr>
          <p:cNvPr id="427" name="Google Shape;427;p7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a:latin typeface="Newsreader"/>
                <a:ea typeface="Newsreader"/>
                <a:cs typeface="Newsreader"/>
                <a:sym typeface="Newsreader"/>
              </a:rPr>
              <a:t>Thomas Ajai, Junzhe Zong, Kangyuan Ding, </a:t>
            </a:r>
            <a:endParaRPr>
              <a:latin typeface="Newsreader"/>
              <a:ea typeface="Newsreader"/>
              <a:cs typeface="Newsreader"/>
              <a:sym typeface="Newsreader"/>
            </a:endParaRPr>
          </a:p>
          <a:p>
            <a:pPr marL="0" marR="0" lvl="0" indent="0" algn="ctr" rtl="0">
              <a:lnSpc>
                <a:spcPct val="100000"/>
              </a:lnSpc>
              <a:spcBef>
                <a:spcPts val="0"/>
              </a:spcBef>
              <a:spcAft>
                <a:spcPts val="0"/>
              </a:spcAft>
              <a:buNone/>
            </a:pPr>
            <a:r>
              <a:rPr lang="en">
                <a:latin typeface="Newsreader"/>
                <a:ea typeface="Newsreader"/>
                <a:cs typeface="Newsreader"/>
                <a:sym typeface="Newsreader"/>
              </a:rPr>
              <a:t>Tianjun Feng, Alehsan Aliyev</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73"/>
          <p:cNvSpPr txBox="1">
            <a:spLocks noGrp="1"/>
          </p:cNvSpPr>
          <p:nvPr>
            <p:ph type="title"/>
          </p:nvPr>
        </p:nvSpPr>
        <p:spPr>
          <a:xfrm>
            <a:off x="311700" y="2891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1. Closest related work</a:t>
            </a:r>
            <a:endParaRPr>
              <a:latin typeface="Newsreader"/>
              <a:ea typeface="Newsreader"/>
              <a:cs typeface="Newsreader"/>
              <a:sym typeface="Newsreader"/>
            </a:endParaRPr>
          </a:p>
        </p:txBody>
      </p:sp>
      <p:sp>
        <p:nvSpPr>
          <p:cNvPr id="433" name="Google Shape;433;p73"/>
          <p:cNvSpPr txBox="1">
            <a:spLocks noGrp="1"/>
          </p:cNvSpPr>
          <p:nvPr>
            <p:ph type="body" idx="1"/>
          </p:nvPr>
        </p:nvSpPr>
        <p:spPr>
          <a:xfrm>
            <a:off x="286800" y="830700"/>
            <a:ext cx="8570400" cy="3894000"/>
          </a:xfrm>
          <a:prstGeom prst="rect">
            <a:avLst/>
          </a:prstGeom>
        </p:spPr>
        <p:txBody>
          <a:bodyPr spcFirstLastPara="1" wrap="square" lIns="91425" tIns="91425" rIns="91425" bIns="91425" anchor="t" anchorCtr="0">
            <a:noAutofit/>
          </a:bodyPr>
          <a:lstStyle/>
          <a:p>
            <a:pPr marL="0" lvl="0" indent="0" algn="l" rtl="0">
              <a:lnSpc>
                <a:spcPct val="125000"/>
              </a:lnSpc>
              <a:spcBef>
                <a:spcPts val="0"/>
              </a:spcBef>
              <a:spcAft>
                <a:spcPts val="0"/>
              </a:spcAft>
              <a:buNone/>
            </a:pPr>
            <a:r>
              <a:rPr lang="en" sz="1300" b="1">
                <a:latin typeface="Newsreader"/>
                <a:ea typeface="Newsreader"/>
                <a:cs typeface="Newsreader"/>
                <a:sym typeface="Newsreader"/>
              </a:rPr>
              <a:t>- </a:t>
            </a:r>
            <a:r>
              <a:rPr lang="en" sz="1300" b="1">
                <a:solidFill>
                  <a:schemeClr val="hlink"/>
                </a:solidFill>
                <a:uFill>
                  <a:noFill/>
                </a:uFill>
                <a:latin typeface="Newsreader"/>
                <a:ea typeface="Newsreader"/>
                <a:cs typeface="Newsreader"/>
                <a:sym typeface="Newsreader"/>
                <a:hlinkClick r:id="rId3"/>
              </a:rPr>
              <a:t>AgentOpt</a:t>
            </a:r>
            <a:r>
              <a:rPr lang="en" sz="1300" b="1">
                <a:latin typeface="Newsreader"/>
                <a:ea typeface="Newsreader"/>
                <a:cs typeface="Newsreader"/>
                <a:sym typeface="Newsreader"/>
              </a:rPr>
              <a:t> </a:t>
            </a:r>
            <a:r>
              <a:rPr lang="en" sz="1300">
                <a:latin typeface="Newsreader"/>
                <a:ea typeface="Newsreader"/>
                <a:cs typeface="Newsreader"/>
                <a:sym typeface="Newsreader"/>
              </a:rPr>
              <a:t>compares multiple search algorithms for </a:t>
            </a:r>
            <a:r>
              <a:rPr lang="en" sz="1300" u="sng">
                <a:latin typeface="Newsreader"/>
                <a:ea typeface="Newsreader"/>
                <a:cs typeface="Newsreader"/>
                <a:sym typeface="Newsreader"/>
              </a:rPr>
              <a:t>non-retry-aware</a:t>
            </a:r>
            <a:r>
              <a:rPr lang="en" sz="1300">
                <a:latin typeface="Newsreader"/>
                <a:ea typeface="Newsreader"/>
                <a:cs typeface="Newsreader"/>
                <a:sym typeface="Newsreader"/>
              </a:rPr>
              <a:t> multi-stage agent pipelines, efficiently identifying model combinations that balance task performance, cost, and latency through a user-defined </a:t>
            </a:r>
            <a:r>
              <a:rPr lang="en" sz="1300" u="sng">
                <a:latin typeface="Newsreader"/>
                <a:ea typeface="Newsreader"/>
                <a:cs typeface="Newsreader"/>
                <a:sym typeface="Newsreader"/>
              </a:rPr>
              <a:t>multi-objective</a:t>
            </a:r>
            <a:r>
              <a:rPr lang="en" sz="1300">
                <a:latin typeface="Newsreader"/>
                <a:ea typeface="Newsreader"/>
                <a:cs typeface="Newsreader"/>
                <a:sym typeface="Newsreader"/>
              </a:rPr>
              <a:t> utility rather than exhaustively evaluating every configuration. </a:t>
            </a:r>
            <a:endParaRPr sz="1300">
              <a:latin typeface="Newsreader"/>
              <a:ea typeface="Newsreader"/>
              <a:cs typeface="Newsreader"/>
              <a:sym typeface="Newsreader"/>
            </a:endParaRPr>
          </a:p>
          <a:p>
            <a:pPr marL="0" lvl="0" indent="0" algn="l" rtl="0">
              <a:lnSpc>
                <a:spcPct val="125000"/>
              </a:lnSpc>
              <a:spcBef>
                <a:spcPts val="1200"/>
              </a:spcBef>
              <a:spcAft>
                <a:spcPts val="0"/>
              </a:spcAft>
              <a:buNone/>
            </a:pPr>
            <a:r>
              <a:rPr lang="en" sz="1300">
                <a:latin typeface="Newsreader"/>
                <a:ea typeface="Newsreader"/>
                <a:cs typeface="Newsreader"/>
                <a:sym typeface="Newsreader"/>
              </a:rPr>
              <a:t>- </a:t>
            </a:r>
            <a:r>
              <a:rPr lang="en" sz="1300" b="1">
                <a:solidFill>
                  <a:schemeClr val="accent5"/>
                </a:solidFill>
                <a:uFill>
                  <a:noFill/>
                </a:uFill>
                <a:latin typeface="Newsreader"/>
                <a:ea typeface="Newsreader"/>
                <a:cs typeface="Newsreader"/>
                <a:sym typeface="Newsreader"/>
                <a:hlinkClick r:id="rId4">
                  <a:extLst>
                    <a:ext uri="{A12FA001-AC4F-418D-AE19-62706E023703}">
                      <ahyp:hlinkClr xmlns:ahyp="http://schemas.microsoft.com/office/drawing/2018/hyperlinkcolor" val="tx"/>
                    </a:ext>
                  </a:extLst>
                </a:hlinkClick>
              </a:rPr>
              <a:t>VineLM</a:t>
            </a:r>
            <a:r>
              <a:rPr lang="en" sz="1300">
                <a:latin typeface="Newsreader"/>
                <a:ea typeface="Newsreader"/>
                <a:cs typeface="Newsreader"/>
                <a:sym typeface="Newsreader"/>
              </a:rPr>
              <a:t> reduces the cost of optimizing agent workflows by modelinSCOPE searches for cost-efficient model assignments in compound AI systems under a target quality constraint. It selectively evaluates promising configurations and prunes candidates that are unlikely to satisfy the constraint or improve deployment cost per-invocation model choices as an execution trie and reusing shared prefixes through checkpointing and sparse profiling. </a:t>
            </a:r>
            <a:endParaRPr sz="1300">
              <a:latin typeface="Newsreader"/>
              <a:ea typeface="Newsreader"/>
              <a:cs typeface="Newsreader"/>
              <a:sym typeface="Newsreader"/>
            </a:endParaRPr>
          </a:p>
          <a:p>
            <a:pPr marL="0" lvl="0" indent="0" algn="l" rtl="0">
              <a:lnSpc>
                <a:spcPct val="125000"/>
              </a:lnSpc>
              <a:spcBef>
                <a:spcPts val="1200"/>
              </a:spcBef>
              <a:spcAft>
                <a:spcPts val="0"/>
              </a:spcAft>
              <a:buNone/>
            </a:pPr>
            <a:r>
              <a:rPr lang="en" sz="1300">
                <a:latin typeface="Newsreader"/>
                <a:ea typeface="Newsreader"/>
                <a:cs typeface="Newsreader"/>
                <a:sym typeface="Newsreader"/>
              </a:rPr>
              <a:t>- </a:t>
            </a:r>
            <a:r>
              <a:rPr lang="en" sz="1300" b="1">
                <a:solidFill>
                  <a:schemeClr val="hlink"/>
                </a:solidFill>
                <a:uFill>
                  <a:noFill/>
                </a:uFill>
                <a:latin typeface="Newsreader"/>
                <a:ea typeface="Newsreader"/>
                <a:cs typeface="Newsreader"/>
                <a:sym typeface="Newsreader"/>
                <a:hlinkClick r:id="rId5"/>
              </a:rPr>
              <a:t>SCOPE</a:t>
            </a:r>
            <a:r>
              <a:rPr lang="en" sz="1300" b="1">
                <a:latin typeface="Newsreader"/>
                <a:ea typeface="Newsreader"/>
                <a:cs typeface="Newsreader"/>
                <a:sym typeface="Newsreader"/>
              </a:rPr>
              <a:t> </a:t>
            </a:r>
            <a:r>
              <a:rPr lang="en" sz="1300">
                <a:latin typeface="Newsreader"/>
                <a:ea typeface="Newsreader"/>
                <a:cs typeface="Newsreader"/>
                <a:sym typeface="Newsreader"/>
              </a:rPr>
              <a:t>searches for cost-efficient model assignments in compound AI systems under a target quality constraint. It selectively evaluates promising configurations and prunes candidates that are unlikely to satisfy the constraint or improve deployment cost.</a:t>
            </a:r>
            <a:endParaRPr sz="1000">
              <a:solidFill>
                <a:schemeClr val="dk1"/>
              </a:solidFill>
            </a:endParaRPr>
          </a:p>
          <a:p>
            <a:pPr marL="0" lvl="0" indent="0" algn="l" rtl="0">
              <a:lnSpc>
                <a:spcPct val="125000"/>
              </a:lnSpc>
              <a:spcBef>
                <a:spcPts val="1200"/>
              </a:spcBef>
              <a:spcAft>
                <a:spcPts val="0"/>
              </a:spcAft>
              <a:buNone/>
            </a:pPr>
            <a:r>
              <a:rPr lang="en" sz="1300">
                <a:latin typeface="Newsreader"/>
                <a:ea typeface="Newsreader"/>
                <a:cs typeface="Newsreader"/>
                <a:sym typeface="Newsreader"/>
              </a:rPr>
              <a:t>- </a:t>
            </a:r>
            <a:r>
              <a:rPr lang="en" sz="1300" b="1">
                <a:solidFill>
                  <a:schemeClr val="hlink"/>
                </a:solidFill>
                <a:uFill>
                  <a:noFill/>
                </a:uFill>
                <a:latin typeface="Newsreader"/>
                <a:ea typeface="Newsreader"/>
                <a:cs typeface="Newsreader"/>
                <a:sym typeface="Newsreader"/>
                <a:hlinkClick r:id="rId6"/>
              </a:rPr>
              <a:t>Gittin Eval</a:t>
            </a:r>
            <a:r>
              <a:rPr lang="en" sz="1300" b="1">
                <a:latin typeface="Newsreader"/>
                <a:ea typeface="Newsreader"/>
                <a:cs typeface="Newsreader"/>
                <a:sym typeface="Newsreader"/>
              </a:rPr>
              <a:t> </a:t>
            </a:r>
            <a:r>
              <a:rPr lang="en" sz="1300">
                <a:latin typeface="Newsreader"/>
                <a:ea typeface="Newsreader"/>
                <a:cs typeface="Newsreader"/>
                <a:sym typeface="Newsreader"/>
              </a:rPr>
              <a:t>treats configuration evaluation as a cost-aware Bayesian bandit, using a Gittins index to choose the next configuration and proposed an uncertainty-aware anytime recommendation rule to early stop.</a:t>
            </a:r>
            <a:endParaRPr sz="1300">
              <a:latin typeface="Newsreader"/>
              <a:ea typeface="Newsreader"/>
              <a:cs typeface="Newsreader"/>
              <a:sym typeface="Newsreader"/>
            </a:endParaRPr>
          </a:p>
          <a:p>
            <a:pPr marL="0" lvl="0" indent="0" algn="l" rtl="0">
              <a:lnSpc>
                <a:spcPct val="125000"/>
              </a:lnSpc>
              <a:spcBef>
                <a:spcPts val="1200"/>
              </a:spcBef>
              <a:spcAft>
                <a:spcPts val="0"/>
              </a:spcAft>
              <a:buClr>
                <a:schemeClr val="dk1"/>
              </a:buClr>
              <a:buSzPts val="1100"/>
              <a:buFont typeface="Arial"/>
              <a:buNone/>
            </a:pPr>
            <a:r>
              <a:rPr lang="en" sz="1300">
                <a:latin typeface="Newsreader"/>
                <a:ea typeface="Newsreader"/>
                <a:cs typeface="Newsreader"/>
                <a:sym typeface="Newsreader"/>
              </a:rPr>
              <a:t>- </a:t>
            </a:r>
            <a:r>
              <a:rPr lang="en" sz="1300" b="1">
                <a:solidFill>
                  <a:schemeClr val="accent5"/>
                </a:solidFill>
                <a:uFill>
                  <a:noFill/>
                </a:uFill>
                <a:latin typeface="Newsreader"/>
                <a:ea typeface="Newsreader"/>
                <a:cs typeface="Newsreader"/>
                <a:sym typeface="Newsreader"/>
                <a:hlinkClick r:id="rId7">
                  <a:extLst>
                    <a:ext uri="{A12FA001-AC4F-418D-AE19-62706E023703}">
                      <ahyp:hlinkClr xmlns:ahyp="http://schemas.microsoft.com/office/drawing/2018/hyperlinkcolor" val="tx"/>
                    </a:ext>
                  </a:extLst>
                </a:hlinkClick>
              </a:rPr>
              <a:t>SySRs</a:t>
            </a:r>
            <a:r>
              <a:rPr lang="en" sz="1300">
                <a:latin typeface="Newsreader"/>
                <a:ea typeface="Newsreader"/>
                <a:cs typeface="Newsreader"/>
                <a:sym typeface="Newsreader"/>
              </a:rPr>
              <a:t> reduces search cost by exploiting performance correlations across models, allowing evaluation measurements to be shared across similar model arms to prune weak candidates early.</a:t>
            </a:r>
            <a:endParaRPr sz="1600">
              <a:latin typeface="Newsreader"/>
              <a:ea typeface="Newsreader"/>
              <a:cs typeface="Newsreader"/>
              <a:sym typeface="Newsreader"/>
            </a:endParaRPr>
          </a:p>
          <a:p>
            <a:pPr marL="0" lvl="0" indent="0" algn="l" rtl="0">
              <a:lnSpc>
                <a:spcPct val="125000"/>
              </a:lnSpc>
              <a:spcBef>
                <a:spcPts val="1200"/>
              </a:spcBef>
              <a:spcAft>
                <a:spcPts val="0"/>
              </a:spcAft>
              <a:buNone/>
            </a:pPr>
            <a:endParaRPr sz="1300">
              <a:latin typeface="Newsreader"/>
              <a:ea typeface="Newsreader"/>
              <a:cs typeface="Newsreader"/>
              <a:sym typeface="Newsreader"/>
            </a:endParaRPr>
          </a:p>
          <a:p>
            <a:pPr marL="0" lvl="0" indent="0" algn="l" rtl="0">
              <a:lnSpc>
                <a:spcPct val="125000"/>
              </a:lnSpc>
              <a:spcBef>
                <a:spcPts val="1200"/>
              </a:spcBef>
              <a:spcAft>
                <a:spcPts val="0"/>
              </a:spcAft>
              <a:buNone/>
            </a:pPr>
            <a:endParaRPr sz="1300">
              <a:latin typeface="Newsreader"/>
              <a:ea typeface="Newsreader"/>
              <a:cs typeface="Newsreader"/>
              <a:sym typeface="Newsreader"/>
            </a:endParaRPr>
          </a:p>
          <a:p>
            <a:pPr marL="0" lvl="0" indent="0" algn="l" rtl="0">
              <a:lnSpc>
                <a:spcPct val="125000"/>
              </a:lnSpc>
              <a:spcBef>
                <a:spcPts val="1200"/>
              </a:spcBef>
              <a:spcAft>
                <a:spcPts val="1200"/>
              </a:spcAft>
              <a:buNone/>
            </a:pPr>
            <a:endParaRPr sz="1500">
              <a:latin typeface="Newsreader"/>
              <a:ea typeface="Newsreader"/>
              <a:cs typeface="Newsreader"/>
              <a:sym typeface="Newsread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437"/>
        <p:cNvGrpSpPr/>
        <p:nvPr/>
      </p:nvGrpSpPr>
      <p:grpSpPr>
        <a:xfrm>
          <a:off x="0" y="0"/>
          <a:ext cx="0" cy="0"/>
          <a:chOff x="0" y="0"/>
          <a:chExt cx="0" cy="0"/>
        </a:xfrm>
      </p:grpSpPr>
      <p:sp>
        <p:nvSpPr>
          <p:cNvPr id="438" name="Google Shape;438;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2. Strongest baseline(s): why these?</a:t>
            </a:r>
            <a:endParaRPr>
              <a:latin typeface="Newsreader"/>
              <a:ea typeface="Newsreader"/>
              <a:cs typeface="Newsreader"/>
              <a:sym typeface="Newsreader"/>
            </a:endParaRPr>
          </a:p>
        </p:txBody>
      </p:sp>
      <p:sp>
        <p:nvSpPr>
          <p:cNvPr id="439" name="Google Shape;439;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Choose the strongest 1–2 papers from your shortlist.</a:t>
            </a:r>
            <a:endParaRPr>
              <a:latin typeface="Newsreader"/>
              <a:ea typeface="Newsreader"/>
              <a:cs typeface="Newsreader"/>
              <a:sym typeface="Newsreader"/>
            </a:endParaRPr>
          </a:p>
          <a:p>
            <a:pPr marL="457200" lvl="0" indent="-342900" algn="l" rtl="0">
              <a:spcBef>
                <a:spcPts val="1200"/>
              </a:spcBef>
              <a:spcAft>
                <a:spcPts val="0"/>
              </a:spcAft>
              <a:buSzPts val="1800"/>
              <a:buFont typeface="Newsreader"/>
              <a:buChar char="●"/>
            </a:pPr>
            <a:r>
              <a:rPr lang="en">
                <a:latin typeface="Newsreader"/>
                <a:ea typeface="Newsreader"/>
                <a:cs typeface="Newsreader"/>
                <a:sym typeface="Newsreader"/>
              </a:rPr>
              <a:t>Why are they the closest and strongest comparisons?</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can each do today? What limitation matters to your project?</a:t>
            </a:r>
            <a:endParaRPr>
              <a:latin typeface="Newsreader"/>
              <a:ea typeface="Newsreader"/>
              <a:cs typeface="Newsreader"/>
              <a:sym typeface="Newsreader"/>
            </a:endParaRPr>
          </a:p>
          <a:p>
            <a:pPr marL="457200" lvl="0" indent="-342900" algn="l" rtl="0">
              <a:spcBef>
                <a:spcPts val="0"/>
              </a:spcBef>
              <a:spcAft>
                <a:spcPts val="0"/>
              </a:spcAft>
              <a:buSzPts val="1800"/>
              <a:buFont typeface="Newsreader"/>
              <a:buChar char="●"/>
            </a:pPr>
            <a:r>
              <a:rPr lang="en">
                <a:latin typeface="Newsreader"/>
                <a:ea typeface="Newsreader"/>
                <a:cs typeface="Newsreader"/>
                <a:sym typeface="Newsreader"/>
              </a:rPr>
              <a:t>What will you compare directly against each baseline?</a:t>
            </a:r>
            <a:endParaRPr>
              <a:latin typeface="Newsreader"/>
              <a:ea typeface="Newsreader"/>
              <a:cs typeface="Newsreader"/>
              <a:sym typeface="Newsread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700" b="1">
                <a:latin typeface="Newsreader"/>
                <a:ea typeface="Newsreader"/>
                <a:cs typeface="Newsreader"/>
                <a:sym typeface="Newsreader"/>
              </a:rPr>
              <a:t>Baseline 1: Matrix UCB-E (AgentOpt)</a:t>
            </a:r>
            <a:endParaRPr sz="1700" b="1">
              <a:latin typeface="Newsreader"/>
              <a:ea typeface="Newsreader"/>
              <a:cs typeface="Newsreader"/>
              <a:sym typeface="Newsreader"/>
            </a:endParaRPr>
          </a:p>
          <a:p>
            <a:pPr marL="0" lvl="0" indent="0" algn="l" rtl="0">
              <a:spcBef>
                <a:spcPts val="400"/>
              </a:spcBef>
              <a:spcAft>
                <a:spcPts val="0"/>
              </a:spcAft>
              <a:buNone/>
            </a:pPr>
            <a:endParaRPr>
              <a:latin typeface="Newsreader"/>
              <a:ea typeface="Newsreader"/>
              <a:cs typeface="Newsreader"/>
              <a:sym typeface="Newsreader"/>
            </a:endParaRPr>
          </a:p>
        </p:txBody>
      </p:sp>
      <p:sp>
        <p:nvSpPr>
          <p:cNvPr id="445" name="Google Shape;445;p75"/>
          <p:cNvSpPr txBox="1"/>
          <p:nvPr/>
        </p:nvSpPr>
        <p:spPr>
          <a:xfrm>
            <a:off x="395400" y="1143150"/>
            <a:ext cx="8436900" cy="37857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Char char="●"/>
            </a:pPr>
            <a:r>
              <a:rPr lang="en" sz="1200" b="1">
                <a:solidFill>
                  <a:schemeClr val="dk1"/>
                </a:solidFill>
                <a:latin typeface="Newsreader"/>
                <a:ea typeface="Newsreader"/>
                <a:cs typeface="Newsreader"/>
                <a:sym typeface="Newsreader"/>
              </a:rPr>
              <a:t>Matrix UCB-E </a:t>
            </a:r>
            <a:r>
              <a:rPr lang="en" sz="1200">
                <a:solidFill>
                  <a:schemeClr val="dk1"/>
                </a:solidFill>
                <a:latin typeface="Newsreader"/>
                <a:ea typeface="Newsreader"/>
                <a:cs typeface="Newsreader"/>
                <a:sym typeface="Newsreader"/>
              </a:rPr>
              <a:t>treating each complete assignment of models to workflow stages as a candidate arm.</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Font typeface="Newsreader"/>
              <a:buChar char="○"/>
            </a:pPr>
            <a:r>
              <a:rPr lang="en" sz="1200" u="sng">
                <a:solidFill>
                  <a:schemeClr val="dk1"/>
                </a:solidFill>
                <a:latin typeface="Newsreader"/>
                <a:ea typeface="Newsreader"/>
                <a:cs typeface="Newsreader"/>
                <a:sym typeface="Newsreader"/>
              </a:rPr>
              <a:t>Why relevant</a:t>
            </a:r>
            <a:r>
              <a:rPr lang="en" sz="1200">
                <a:solidFill>
                  <a:schemeClr val="dk1"/>
                </a:solidFill>
                <a:latin typeface="Newsreader"/>
                <a:ea typeface="Newsreader"/>
                <a:cs typeface="Newsreader"/>
                <a:sym typeface="Newsreader"/>
              </a:rPr>
              <a:t>: because it aims to find a near-optimal workflow configuration under a limited profiling budget.</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Font typeface="Newsreader"/>
              <a:buChar char="○"/>
            </a:pPr>
            <a:r>
              <a:rPr lang="en" sz="1200">
                <a:solidFill>
                  <a:schemeClr val="dk1"/>
                </a:solidFill>
                <a:latin typeface="Newsreader"/>
                <a:ea typeface="Newsreader"/>
                <a:cs typeface="Newsreader"/>
                <a:sym typeface="Newsreader"/>
              </a:rPr>
              <a:t>Across four benchmarks, it achieved near-optimal accuracy while using 62%-76%  fewer evaluations than exhaustive search. </a:t>
            </a:r>
            <a:endParaRPr sz="1200">
              <a:solidFill>
                <a:schemeClr val="dk1"/>
              </a:solidFill>
              <a:latin typeface="Newsreader"/>
              <a:ea typeface="Newsreader"/>
              <a:cs typeface="Newsreader"/>
              <a:sym typeface="Newsreader"/>
            </a:endParaRPr>
          </a:p>
          <a:p>
            <a:pPr marL="457200" lvl="0" indent="-304800" algn="l" rtl="0">
              <a:lnSpc>
                <a:spcPct val="115000"/>
              </a:lnSpc>
              <a:spcBef>
                <a:spcPts val="0"/>
              </a:spcBef>
              <a:spcAft>
                <a:spcPts val="0"/>
              </a:spcAft>
              <a:buClr>
                <a:schemeClr val="dk1"/>
              </a:buClr>
              <a:buSzPts val="1200"/>
              <a:buFont typeface="Newsreader"/>
              <a:buChar char="●"/>
            </a:pPr>
            <a:r>
              <a:rPr lang="en" sz="1200">
                <a:solidFill>
                  <a:schemeClr val="dk1"/>
                </a:solidFill>
                <a:latin typeface="Newsreader"/>
                <a:ea typeface="Newsreader"/>
                <a:cs typeface="Newsreader"/>
                <a:sym typeface="Newsreader"/>
              </a:rPr>
              <a:t>Matrix UCB-E adaptively allocates evaluation samples according to each combination’s estimated performance and uncertainty.</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Font typeface="Newsreader"/>
              <a:buChar char="○"/>
            </a:pPr>
            <a:r>
              <a:rPr lang="en" sz="1200">
                <a:solidFill>
                  <a:schemeClr val="dk1"/>
                </a:solidFill>
                <a:latin typeface="Newsreader"/>
                <a:ea typeface="Newsreader"/>
                <a:cs typeface="Newsreader"/>
                <a:sym typeface="Newsreader"/>
              </a:rPr>
              <a:t>It evaluates uncertain but potentially competitive combinations more extensively.</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Font typeface="Newsreader"/>
              <a:buChar char="○"/>
            </a:pPr>
            <a:r>
              <a:rPr lang="en" sz="1200">
                <a:solidFill>
                  <a:schemeClr val="dk1"/>
                </a:solidFill>
                <a:latin typeface="Newsreader"/>
                <a:ea typeface="Newsreader"/>
                <a:cs typeface="Newsreader"/>
                <a:sym typeface="Newsreader"/>
              </a:rPr>
              <a:t>It eliminates effort on configurations that appear unlikely to be optimal.</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Char char="○"/>
            </a:pPr>
            <a:r>
              <a:rPr lang="en" sz="1200">
                <a:solidFill>
                  <a:schemeClr val="dk1"/>
                </a:solidFill>
                <a:latin typeface="Newsreader"/>
                <a:ea typeface="Newsreader"/>
                <a:cs typeface="Newsreader"/>
                <a:sym typeface="Newsreader"/>
              </a:rPr>
              <a:t>It provides a strong </a:t>
            </a:r>
            <a:r>
              <a:rPr lang="en" sz="1200" b="1">
                <a:solidFill>
                  <a:schemeClr val="dk1"/>
                </a:solidFill>
                <a:latin typeface="Newsreader"/>
                <a:ea typeface="Newsreader"/>
                <a:cs typeface="Newsreader"/>
                <a:sym typeface="Newsreader"/>
              </a:rPr>
              <a:t>flat-search baseline</a:t>
            </a:r>
            <a:r>
              <a:rPr lang="en" sz="1200">
                <a:solidFill>
                  <a:schemeClr val="dk1"/>
                </a:solidFill>
                <a:latin typeface="Newsreader"/>
                <a:ea typeface="Newsreader"/>
                <a:cs typeface="Newsreader"/>
                <a:sym typeface="Newsreader"/>
              </a:rPr>
              <a:t> without relying on retry-specific structure.</a:t>
            </a:r>
            <a:endParaRPr sz="1200">
              <a:solidFill>
                <a:schemeClr val="dk1"/>
              </a:solidFill>
              <a:latin typeface="Newsreader"/>
              <a:ea typeface="Newsreader"/>
              <a:cs typeface="Newsreader"/>
              <a:sym typeface="Newsreader"/>
            </a:endParaRPr>
          </a:p>
          <a:p>
            <a:pPr marL="457200" lvl="0" indent="-304800" algn="l" rtl="0">
              <a:lnSpc>
                <a:spcPct val="115000"/>
              </a:lnSpc>
              <a:spcBef>
                <a:spcPts val="0"/>
              </a:spcBef>
              <a:spcAft>
                <a:spcPts val="0"/>
              </a:spcAft>
              <a:buClr>
                <a:schemeClr val="dk1"/>
              </a:buClr>
              <a:buSzPts val="1200"/>
              <a:buFont typeface="Newsreader"/>
              <a:buChar char="●"/>
            </a:pPr>
            <a:r>
              <a:rPr lang="en" sz="1200" b="1">
                <a:solidFill>
                  <a:schemeClr val="dk1"/>
                </a:solidFill>
                <a:latin typeface="Newsreader"/>
                <a:ea typeface="Newsreader"/>
                <a:cs typeface="Newsreader"/>
                <a:sym typeface="Newsreader"/>
              </a:rPr>
              <a:t>Relevant Limitations:</a:t>
            </a:r>
            <a:endParaRPr sz="1200" b="1">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Char char="○"/>
            </a:pPr>
            <a:r>
              <a:rPr lang="en" sz="1200">
                <a:solidFill>
                  <a:schemeClr val="dk1"/>
                </a:solidFill>
                <a:latin typeface="Newsreader"/>
                <a:ea typeface="Newsreader"/>
                <a:cs typeface="Newsreader"/>
                <a:sym typeface="Newsreader"/>
              </a:rPr>
              <a:t>It treats complete configurations as </a:t>
            </a:r>
            <a:r>
              <a:rPr lang="en" sz="1200" b="1">
                <a:solidFill>
                  <a:schemeClr val="dk1"/>
                </a:solidFill>
                <a:latin typeface="Newsreader"/>
                <a:ea typeface="Newsreader"/>
                <a:cs typeface="Newsreader"/>
                <a:sym typeface="Newsreader"/>
              </a:rPr>
              <a:t>independent arms</a:t>
            </a:r>
            <a:r>
              <a:rPr lang="en" sz="1200">
                <a:solidFill>
                  <a:schemeClr val="dk1"/>
                </a:solidFill>
                <a:latin typeface="Newsreader"/>
                <a:ea typeface="Newsreader"/>
                <a:cs typeface="Newsreader"/>
                <a:sym typeface="Newsreader"/>
              </a:rPr>
              <a:t>, even when retry configurations share the same models and execution prefix.</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Char char="○"/>
            </a:pPr>
            <a:r>
              <a:rPr lang="en" sz="1200">
                <a:solidFill>
                  <a:schemeClr val="dk1"/>
                </a:solidFill>
                <a:latin typeface="Newsreader"/>
                <a:ea typeface="Newsreader"/>
                <a:cs typeface="Newsreader"/>
                <a:sym typeface="Newsreader"/>
              </a:rPr>
              <a:t>It does not model </a:t>
            </a:r>
            <a:r>
              <a:rPr lang="en" sz="1200" b="1">
                <a:solidFill>
                  <a:schemeClr val="dk1"/>
                </a:solidFill>
                <a:latin typeface="Newsreader"/>
                <a:ea typeface="Newsreader"/>
                <a:cs typeface="Newsreader"/>
                <a:sym typeface="Newsreader"/>
              </a:rPr>
              <a:t>early success, conditional retry reachability, or outcome-dependent execution cost</a:t>
            </a:r>
            <a:r>
              <a:rPr lang="en" sz="1200">
                <a:solidFill>
                  <a:schemeClr val="dk1"/>
                </a:solidFill>
                <a:latin typeface="Newsreader"/>
                <a:ea typeface="Newsreader"/>
                <a:cs typeface="Newsreader"/>
                <a:sym typeface="Newsreader"/>
              </a:rPr>
              <a:t>.</a:t>
            </a:r>
            <a:endParaRPr sz="1200">
              <a:solidFill>
                <a:schemeClr val="dk1"/>
              </a:solidFill>
              <a:latin typeface="Newsreader"/>
              <a:ea typeface="Newsreader"/>
              <a:cs typeface="Newsreader"/>
              <a:sym typeface="Newsreader"/>
            </a:endParaRPr>
          </a:p>
          <a:p>
            <a:pPr marL="914400" lvl="1" indent="-304800" algn="l" rtl="0">
              <a:lnSpc>
                <a:spcPct val="115000"/>
              </a:lnSpc>
              <a:spcBef>
                <a:spcPts val="0"/>
              </a:spcBef>
              <a:spcAft>
                <a:spcPts val="0"/>
              </a:spcAft>
              <a:buClr>
                <a:schemeClr val="dk1"/>
              </a:buClr>
              <a:buSzPts val="1200"/>
              <a:buFont typeface="Newsreader"/>
              <a:buChar char="○"/>
            </a:pPr>
            <a:r>
              <a:rPr lang="en" sz="1200">
                <a:solidFill>
                  <a:schemeClr val="dk1"/>
                </a:solidFill>
                <a:latin typeface="Newsreader"/>
                <a:ea typeface="Newsreader"/>
                <a:cs typeface="Newsreader"/>
                <a:sym typeface="Newsreader"/>
              </a:rPr>
              <a:t>Its allocation is driven mainly by statistical uncertainty rather than the actual incremental cost of executing later retries.</a:t>
            </a:r>
            <a:endParaRPr sz="1200">
              <a:solidFill>
                <a:schemeClr val="dk1"/>
              </a:solidFill>
              <a:latin typeface="Newsreader"/>
              <a:ea typeface="Newsreader"/>
              <a:cs typeface="Newsreader"/>
              <a:sym typeface="Newsreader"/>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1800"/>
              </a:spcBef>
              <a:spcAft>
                <a:spcPts val="400"/>
              </a:spcAft>
              <a:buClr>
                <a:schemeClr val="dk1"/>
              </a:buClr>
              <a:buSzPts val="1100"/>
              <a:buFont typeface="Arial"/>
              <a:buNone/>
            </a:pPr>
            <a:r>
              <a:rPr lang="en" sz="1700" b="1">
                <a:latin typeface="Newsreader"/>
                <a:ea typeface="Newsreader"/>
                <a:cs typeface="Newsreader"/>
                <a:sym typeface="Newsreader"/>
              </a:rPr>
              <a:t>Baseline 2: GittinsEval</a:t>
            </a:r>
            <a:endParaRPr>
              <a:latin typeface="Newsreader"/>
              <a:ea typeface="Newsreader"/>
              <a:cs typeface="Newsreader"/>
              <a:sym typeface="Newsreader"/>
            </a:endParaRPr>
          </a:p>
        </p:txBody>
      </p:sp>
      <p:sp>
        <p:nvSpPr>
          <p:cNvPr id="451" name="Google Shape;451;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94323" algn="l" rtl="0">
              <a:lnSpc>
                <a:spcPct val="95000"/>
              </a:lnSpc>
              <a:spcBef>
                <a:spcPts val="1200"/>
              </a:spcBef>
              <a:spcAft>
                <a:spcPts val="0"/>
              </a:spcAft>
              <a:buClr>
                <a:schemeClr val="dk1"/>
              </a:buClr>
              <a:buSzPts val="1035"/>
              <a:buChar char="●"/>
            </a:pPr>
            <a:r>
              <a:rPr lang="en" sz="1035" b="1">
                <a:solidFill>
                  <a:schemeClr val="dk1"/>
                </a:solidFill>
                <a:latin typeface="Newsreader"/>
                <a:ea typeface="Newsreader"/>
                <a:cs typeface="Newsreader"/>
                <a:sym typeface="Newsreader"/>
              </a:rPr>
              <a:t>GittinsEval is the strongest cost-aware Bayesian baseline</a:t>
            </a:r>
            <a:r>
              <a:rPr lang="en" sz="1035">
                <a:solidFill>
                  <a:schemeClr val="dk1"/>
                </a:solidFill>
                <a:latin typeface="Newsreader"/>
                <a:ea typeface="Newsreader"/>
                <a:cs typeface="Newsreader"/>
                <a:sym typeface="Newsreader"/>
              </a:rPr>
              <a:t>, jointly considering estimated configuration quality, posterior uncertainty, and evaluation cost.</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Char char="○"/>
            </a:pPr>
            <a:r>
              <a:rPr lang="en" sz="1035">
                <a:solidFill>
                  <a:schemeClr val="dk1"/>
                </a:solidFill>
                <a:latin typeface="Newsreader"/>
                <a:ea typeface="Newsreader"/>
                <a:cs typeface="Newsreader"/>
                <a:sym typeface="Newsreader"/>
              </a:rPr>
              <a:t>It is especially relevant because it decides both </a:t>
            </a:r>
            <a:r>
              <a:rPr lang="en" sz="1035" b="1">
                <a:solidFill>
                  <a:schemeClr val="dk1"/>
                </a:solidFill>
                <a:latin typeface="Newsreader"/>
                <a:ea typeface="Newsreader"/>
                <a:cs typeface="Newsreader"/>
                <a:sym typeface="Newsreader"/>
              </a:rPr>
              <a:t>which configuration to evaluate next</a:t>
            </a:r>
            <a:r>
              <a:rPr lang="en" sz="1035">
                <a:solidFill>
                  <a:schemeClr val="dk1"/>
                </a:solidFill>
                <a:latin typeface="Newsreader"/>
                <a:ea typeface="Newsreader"/>
                <a:cs typeface="Newsreader"/>
                <a:sym typeface="Newsreader"/>
              </a:rPr>
              <a:t> and </a:t>
            </a:r>
            <a:r>
              <a:rPr lang="en" sz="1035" b="1">
                <a:solidFill>
                  <a:schemeClr val="dk1"/>
                </a:solidFill>
                <a:latin typeface="Newsreader"/>
                <a:ea typeface="Newsreader"/>
                <a:cs typeface="Newsreader"/>
                <a:sym typeface="Newsreader"/>
              </a:rPr>
              <a:t>when sufficient evidence has been collected to stop</a:t>
            </a:r>
            <a:r>
              <a:rPr lang="en" sz="1035">
                <a:solidFill>
                  <a:schemeClr val="dk1"/>
                </a:solidFill>
                <a:latin typeface="Newsreader"/>
                <a:ea typeface="Newsreader"/>
                <a:cs typeface="Newsreader"/>
                <a:sym typeface="Newsreader"/>
              </a:rPr>
              <a:t>.</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It also provides an adaptive stopping rule.</a:t>
            </a:r>
            <a:endParaRPr sz="1035">
              <a:solidFill>
                <a:schemeClr val="dk1"/>
              </a:solidFill>
              <a:latin typeface="Newsreader"/>
              <a:ea typeface="Newsreader"/>
              <a:cs typeface="Newsreader"/>
              <a:sym typeface="Newsreader"/>
            </a:endParaRPr>
          </a:p>
          <a:p>
            <a:pPr marL="457200" lvl="0"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GittinsEval models each configuration as a Bayesian bandit arm and assigns it a Gittins-style priority index.</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Promising, uncertain, and inexpensive configurations receive higher evaluation priority.</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It produces an anytime recommendation and supports adaptive stopping instead of requiring a fixed profiling budget.</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Char char="○"/>
            </a:pPr>
            <a:r>
              <a:rPr lang="en" sz="1035">
                <a:solidFill>
                  <a:schemeClr val="dk1"/>
                </a:solidFill>
                <a:latin typeface="Newsreader"/>
                <a:ea typeface="Newsreader"/>
                <a:cs typeface="Newsreader"/>
                <a:sym typeface="Newsreader"/>
              </a:rPr>
              <a:t>It is therefore a strong </a:t>
            </a:r>
            <a:r>
              <a:rPr lang="en" sz="1035" b="1">
                <a:solidFill>
                  <a:schemeClr val="dk1"/>
                </a:solidFill>
                <a:latin typeface="Newsreader"/>
                <a:ea typeface="Newsreader"/>
                <a:cs typeface="Newsreader"/>
                <a:sym typeface="Newsreader"/>
              </a:rPr>
              <a:t>cost-aware search baseline</a:t>
            </a:r>
            <a:r>
              <a:rPr lang="en" sz="1035">
                <a:solidFill>
                  <a:schemeClr val="dk1"/>
                </a:solidFill>
                <a:latin typeface="Newsreader"/>
                <a:ea typeface="Newsreader"/>
                <a:cs typeface="Newsreader"/>
                <a:sym typeface="Newsreader"/>
              </a:rPr>
              <a:t> for measuring budget-to-convergence.</a:t>
            </a:r>
            <a:endParaRPr sz="1035">
              <a:solidFill>
                <a:schemeClr val="dk1"/>
              </a:solidFill>
              <a:latin typeface="Newsreader"/>
              <a:ea typeface="Newsreader"/>
              <a:cs typeface="Newsreader"/>
              <a:sym typeface="Newsreader"/>
            </a:endParaRPr>
          </a:p>
          <a:p>
            <a:pPr marL="457200" lvl="0" indent="-294323" algn="l" rtl="0">
              <a:lnSpc>
                <a:spcPct val="95000"/>
              </a:lnSpc>
              <a:spcBef>
                <a:spcPts val="0"/>
              </a:spcBef>
              <a:spcAft>
                <a:spcPts val="0"/>
              </a:spcAft>
              <a:buClr>
                <a:schemeClr val="dk1"/>
              </a:buClr>
              <a:buSzPts val="1035"/>
              <a:buFont typeface="Newsreader"/>
              <a:buChar char="●"/>
            </a:pPr>
            <a:r>
              <a:rPr lang="en" sz="1035" b="1">
                <a:solidFill>
                  <a:schemeClr val="dk1"/>
                </a:solidFill>
                <a:latin typeface="Newsreader"/>
                <a:ea typeface="Newsreader"/>
                <a:cs typeface="Newsreader"/>
                <a:sym typeface="Newsreader"/>
              </a:rPr>
              <a:t>Relevant Limitations:</a:t>
            </a:r>
            <a:endParaRPr sz="1035" b="1">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It uses configuration-level costs and does not explicitly model whether later retry attempts will actually be reached.</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It cannot reuse observations across configurations with shared execution prefixes.</a:t>
            </a:r>
            <a:endParaRPr sz="1035">
              <a:solidFill>
                <a:schemeClr val="dk1"/>
              </a:solidFill>
              <a:latin typeface="Newsreader"/>
              <a:ea typeface="Newsreader"/>
              <a:cs typeface="Newsreader"/>
              <a:sym typeface="Newsreader"/>
            </a:endParaRPr>
          </a:p>
          <a:p>
            <a:pPr marL="457200" lvl="0" indent="-294323" algn="l" rtl="0">
              <a:lnSpc>
                <a:spcPct val="95000"/>
              </a:lnSpc>
              <a:spcBef>
                <a:spcPts val="0"/>
              </a:spcBef>
              <a:spcAft>
                <a:spcPts val="0"/>
              </a:spcAft>
              <a:buClr>
                <a:schemeClr val="dk1"/>
              </a:buClr>
              <a:buSzPts val="1035"/>
              <a:buFont typeface="Newsreader"/>
              <a:buChar char="●"/>
            </a:pPr>
            <a:r>
              <a:rPr lang="en" sz="1035" b="1">
                <a:solidFill>
                  <a:schemeClr val="dk1"/>
                </a:solidFill>
                <a:latin typeface="Newsreader"/>
                <a:ea typeface="Newsreader"/>
                <a:cs typeface="Newsreader"/>
                <a:sym typeface="Newsreader"/>
              </a:rPr>
              <a:t>Comparison against Both Baselines:</a:t>
            </a:r>
            <a:endParaRPr sz="1035" b="1">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Represent every complete retry policy as one arm for Matrix UCB-E and GittinsEval, while our method explicitly models retry attempts and shared prefixes.</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Char char="○"/>
            </a:pPr>
            <a:r>
              <a:rPr lang="en" sz="1035">
                <a:solidFill>
                  <a:schemeClr val="dk1"/>
                </a:solidFill>
                <a:latin typeface="Newsreader"/>
                <a:ea typeface="Newsreader"/>
                <a:cs typeface="Newsreader"/>
                <a:sym typeface="Newsreader"/>
              </a:rPr>
              <a:t>Use the </a:t>
            </a:r>
            <a:r>
              <a:rPr lang="en" sz="1035" b="1">
                <a:solidFill>
                  <a:schemeClr val="dk1"/>
                </a:solidFill>
                <a:latin typeface="Newsreader"/>
                <a:ea typeface="Newsreader"/>
                <a:cs typeface="Newsreader"/>
                <a:sym typeface="Newsreader"/>
              </a:rPr>
              <a:t>same candidate configurations, benchmark questions, warm-up samples, random seeds, and realized dollar budget</a:t>
            </a:r>
            <a:r>
              <a:rPr lang="en" sz="1035">
                <a:solidFill>
                  <a:schemeClr val="dk1"/>
                </a:solidFill>
                <a:latin typeface="Newsreader"/>
                <a:ea typeface="Newsreader"/>
                <a:cs typeface="Newsreader"/>
                <a:sym typeface="Newsreader"/>
              </a:rPr>
              <a:t>.</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Compare held-out accuracy, simple regret, and the profiling budget required to reach and consistently retain an ε-optimal configuration.</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Font typeface="Newsreader"/>
              <a:buChar char="○"/>
            </a:pPr>
            <a:r>
              <a:rPr lang="en" sz="1035">
                <a:solidFill>
                  <a:schemeClr val="dk1"/>
                </a:solidFill>
                <a:latin typeface="Newsreader"/>
                <a:ea typeface="Newsreader"/>
                <a:cs typeface="Newsreader"/>
                <a:sym typeface="Newsreader"/>
              </a:rPr>
              <a:t>Measure the percentage of budget saved before convergence and the deployment cost of the selected configuration.</a:t>
            </a:r>
            <a:endParaRPr sz="1035">
              <a:solidFill>
                <a:schemeClr val="dk1"/>
              </a:solidFill>
              <a:latin typeface="Newsreader"/>
              <a:ea typeface="Newsreader"/>
              <a:cs typeface="Newsreader"/>
              <a:sym typeface="Newsreader"/>
            </a:endParaRPr>
          </a:p>
          <a:p>
            <a:pPr marL="914400" lvl="1" indent="-294323" algn="l" rtl="0">
              <a:lnSpc>
                <a:spcPct val="95000"/>
              </a:lnSpc>
              <a:spcBef>
                <a:spcPts val="0"/>
              </a:spcBef>
              <a:spcAft>
                <a:spcPts val="0"/>
              </a:spcAft>
              <a:buClr>
                <a:schemeClr val="dk1"/>
              </a:buClr>
              <a:buSzPts val="1035"/>
              <a:buChar char="○"/>
            </a:pPr>
            <a:r>
              <a:rPr lang="en" sz="1035">
                <a:solidFill>
                  <a:schemeClr val="dk1"/>
                </a:solidFill>
                <a:latin typeface="Newsreader"/>
                <a:ea typeface="Newsreader"/>
                <a:cs typeface="Newsreader"/>
                <a:sym typeface="Newsreader"/>
              </a:rPr>
              <a:t>This determines whether </a:t>
            </a:r>
            <a:r>
              <a:rPr lang="en" sz="1035" b="1">
                <a:solidFill>
                  <a:schemeClr val="dk1"/>
                </a:solidFill>
                <a:latin typeface="Newsreader"/>
                <a:ea typeface="Newsreader"/>
                <a:cs typeface="Newsreader"/>
                <a:sym typeface="Newsreader"/>
              </a:rPr>
              <a:t>retry-aware reachability, prefix reuse, and adaptive stopping</a:t>
            </a:r>
            <a:r>
              <a:rPr lang="en" sz="1035">
                <a:solidFill>
                  <a:schemeClr val="dk1"/>
                </a:solidFill>
                <a:latin typeface="Newsreader"/>
                <a:ea typeface="Newsreader"/>
                <a:cs typeface="Newsreader"/>
                <a:sym typeface="Newsreader"/>
              </a:rPr>
              <a:t> improve over both flat uncertainty-based search and flat cost-aware Bayesian search.</a:t>
            </a:r>
            <a:endParaRPr sz="1035">
              <a:solidFill>
                <a:schemeClr val="dk1"/>
              </a:solidFill>
              <a:latin typeface="Newsreader"/>
              <a:ea typeface="Newsreader"/>
              <a:cs typeface="Newsreader"/>
              <a:sym typeface="Newsreader"/>
            </a:endParaRPr>
          </a:p>
          <a:p>
            <a:pPr marL="0" lvl="0" indent="0" algn="l" rtl="0">
              <a:lnSpc>
                <a:spcPct val="95000"/>
              </a:lnSpc>
              <a:spcBef>
                <a:spcPts val="1200"/>
              </a:spcBef>
              <a:spcAft>
                <a:spcPts val="1200"/>
              </a:spcAft>
              <a:buSzPts val="935"/>
              <a:buNone/>
            </a:pPr>
            <a:endParaRPr sz="1530">
              <a:latin typeface="Newsreader"/>
              <a:ea typeface="Newsreader"/>
              <a:cs typeface="Newsreader"/>
              <a:sym typeface="Newsread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3. First experiment: question + claim</a:t>
            </a:r>
            <a:endParaRPr>
              <a:latin typeface="Newsreader"/>
              <a:ea typeface="Newsreader"/>
              <a:cs typeface="Newsreader"/>
              <a:sym typeface="Newsreader"/>
            </a:endParaRPr>
          </a:p>
        </p:txBody>
      </p:sp>
      <p:sp>
        <p:nvSpPr>
          <p:cNvPr id="457" name="Google Shape;457;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latin typeface="Newsreader"/>
                <a:ea typeface="Newsreader"/>
                <a:cs typeface="Newsreader"/>
                <a:sym typeface="Newsreader"/>
              </a:rPr>
              <a:t>Can a search method find a good sequence with fewer evaluations?</a:t>
            </a:r>
            <a:endParaRPr sz="1700">
              <a:latin typeface="Newsreader"/>
              <a:ea typeface="Newsreader"/>
              <a:cs typeface="Newsreader"/>
              <a:sym typeface="Newsreader"/>
            </a:endParaRPr>
          </a:p>
          <a:p>
            <a:pPr marL="457200" lvl="0" indent="-336550" algn="l" rtl="0">
              <a:spcBef>
                <a:spcPts val="1200"/>
              </a:spcBef>
              <a:spcAft>
                <a:spcPts val="0"/>
              </a:spcAft>
              <a:buSzPts val="1700"/>
              <a:buFont typeface="Newsreader"/>
              <a:buChar char="●"/>
            </a:pPr>
            <a:r>
              <a:rPr lang="en" sz="1700">
                <a:latin typeface="Newsreader"/>
                <a:ea typeface="Newsreader"/>
                <a:cs typeface="Newsreader"/>
                <a:sym typeface="Newsreader"/>
              </a:rPr>
              <a:t>Hypothesis: Adaptive search (Matrix UCB-E) will find a solver sequence with near-best final accuracy using less profiling money than random search.</a:t>
            </a:r>
            <a:endParaRPr sz="1700">
              <a:latin typeface="Newsreader"/>
              <a:ea typeface="Newsreader"/>
              <a:cs typeface="Newsreader"/>
              <a:sym typeface="Newsreader"/>
            </a:endParaRPr>
          </a:p>
          <a:p>
            <a:pPr marL="457200" lvl="0" indent="-336550" algn="l" rtl="0">
              <a:spcBef>
                <a:spcPts val="0"/>
              </a:spcBef>
              <a:spcAft>
                <a:spcPts val="0"/>
              </a:spcAft>
              <a:buSzPts val="1700"/>
              <a:buFont typeface="Newsreader"/>
              <a:buChar char="●"/>
            </a:pPr>
            <a:r>
              <a:rPr lang="en" sz="1700">
                <a:latin typeface="Newsreader"/>
                <a:ea typeface="Newsreader"/>
                <a:cs typeface="Newsreader"/>
                <a:sym typeface="Newsreader"/>
              </a:rPr>
              <a:t>The size of the problem: Three solver models across three possible attempts give 27 sequences. Since this is still small enough to test exhaustively, we can know the true best sequence and measure how quickly search gets close to it.</a:t>
            </a:r>
            <a:r>
              <a:rPr lang="en" sz="1100">
                <a:solidFill>
                  <a:schemeClr val="dk1"/>
                </a:solidFill>
              </a:rPr>
              <a:t> </a:t>
            </a:r>
            <a:endParaRPr sz="1700">
              <a:latin typeface="Newsreader"/>
              <a:ea typeface="Newsreader"/>
              <a:cs typeface="Newsreader"/>
              <a:sym typeface="Newsreader"/>
            </a:endParaRPr>
          </a:p>
          <a:p>
            <a:pPr marL="457200" lvl="0" indent="-336550" algn="l" rtl="0">
              <a:spcBef>
                <a:spcPts val="0"/>
              </a:spcBef>
              <a:spcAft>
                <a:spcPts val="0"/>
              </a:spcAft>
              <a:buSzPts val="1700"/>
              <a:buFont typeface="Newsreader"/>
              <a:buChar char="●"/>
            </a:pPr>
            <a:r>
              <a:rPr lang="en" sz="1700">
                <a:latin typeface="Newsreader"/>
                <a:ea typeface="Newsreader"/>
                <a:cs typeface="Newsreader"/>
                <a:sym typeface="Newsreader"/>
              </a:rPr>
              <a:t>Result that would change our direction: If random search finds equally good sequences at the same profiling budget, we may not need a specialized search method.</a:t>
            </a:r>
            <a:endParaRPr sz="1700">
              <a:latin typeface="Newsreader"/>
              <a:ea typeface="Newsreader"/>
              <a:cs typeface="Newsreader"/>
              <a:sym typeface="Newsread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4. First experiment: setup</a:t>
            </a:r>
            <a:endParaRPr>
              <a:latin typeface="Newsreader"/>
              <a:ea typeface="Newsreader"/>
              <a:cs typeface="Newsreader"/>
              <a:sym typeface="Newsreader"/>
            </a:endParaRPr>
          </a:p>
        </p:txBody>
      </p:sp>
      <p:sp>
        <p:nvSpPr>
          <p:cNvPr id="463" name="Google Shape;463;p78"/>
          <p:cNvSpPr txBox="1">
            <a:spLocks noGrp="1"/>
          </p:cNvSpPr>
          <p:nvPr>
            <p:ph type="body" idx="1"/>
          </p:nvPr>
        </p:nvSpPr>
        <p:spPr>
          <a:xfrm>
            <a:off x="311700" y="1152475"/>
            <a:ext cx="78978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System:</a:t>
            </a:r>
            <a:r>
              <a:rPr lang="en" sz="1400">
                <a:latin typeface="Newsreader"/>
                <a:ea typeface="Newsreader"/>
                <a:cs typeface="Newsreader"/>
                <a:sym typeface="Newsreader"/>
              </a:rPr>
              <a:t> A solver answers MathQA questions; a fixed verifier can request up to two retries.     Each solver attempt has its own model choice.</a:t>
            </a:r>
            <a:endParaRPr sz="1400">
              <a:latin typeface="Newsreader"/>
              <a:ea typeface="Newsreader"/>
              <a:cs typeface="Newsreader"/>
              <a:sym typeface="Newsreader"/>
            </a:endParaRPr>
          </a:p>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Search comparison:</a:t>
            </a:r>
            <a:r>
              <a:rPr lang="en" sz="1400">
                <a:latin typeface="Newsreader"/>
                <a:ea typeface="Newsreader"/>
                <a:cs typeface="Newsreader"/>
                <a:sym typeface="Newsreader"/>
              </a:rPr>
              <a:t> Compare AgentOpt’s Matrix UCB-E with random search at the same profiling cost. Exhaustive evaluation of the small search space gives a reference best sequence.</a:t>
            </a:r>
            <a:endParaRPr sz="1400">
              <a:latin typeface="Newsreader"/>
              <a:ea typeface="Newsreader"/>
              <a:cs typeface="Newsreader"/>
              <a:sym typeface="Newsreader"/>
            </a:endParaRPr>
          </a:p>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Data:</a:t>
            </a:r>
            <a:r>
              <a:rPr lang="en" sz="1400">
                <a:latin typeface="Newsreader"/>
                <a:ea typeface="Newsreader"/>
                <a:cs typeface="Newsreader"/>
                <a:sym typeface="Newsreader"/>
              </a:rPr>
              <a:t> Use labeled MathQA questions for search and separate questions to evaluate the selected sequence.</a:t>
            </a:r>
            <a:endParaRPr sz="1400">
              <a:latin typeface="Newsreader"/>
              <a:ea typeface="Newsreader"/>
              <a:cs typeface="Newsreader"/>
              <a:sym typeface="Newsreader"/>
            </a:endParaRPr>
          </a:p>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Vary and hold fixed:</a:t>
            </a:r>
            <a:r>
              <a:rPr lang="en" sz="1400">
                <a:latin typeface="Newsreader"/>
                <a:ea typeface="Newsreader"/>
                <a:cs typeface="Newsreader"/>
                <a:sym typeface="Newsreader"/>
              </a:rPr>
              <a:t> Vary the solver sequence and search method; keep the verifier, prompts, and retry rule fixed.</a:t>
            </a:r>
            <a:endParaRPr sz="1400">
              <a:latin typeface="Newsreader"/>
              <a:ea typeface="Newsreader"/>
              <a:cs typeface="Newsreader"/>
              <a:sym typeface="Newsreader"/>
            </a:endParaRPr>
          </a:p>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Measure:</a:t>
            </a:r>
            <a:r>
              <a:rPr lang="en" sz="1400">
                <a:latin typeface="Newsreader"/>
                <a:ea typeface="Newsreader"/>
                <a:cs typeface="Newsreader"/>
                <a:sym typeface="Newsreader"/>
              </a:rPr>
              <a:t> Plot the selected sequence’s accuracy gap from the reference best against profiling dollars; also report deployment cost, latency, and retry count.</a:t>
            </a:r>
            <a:endParaRPr sz="1400">
              <a:latin typeface="Newsreader"/>
              <a:ea typeface="Newsreader"/>
              <a:cs typeface="Newsreader"/>
              <a:sym typeface="Newsreader"/>
            </a:endParaRPr>
          </a:p>
          <a:p>
            <a:pPr marL="457200" lvl="0" indent="-317500" algn="l" rtl="0">
              <a:spcBef>
                <a:spcPts val="0"/>
              </a:spcBef>
              <a:spcAft>
                <a:spcPts val="0"/>
              </a:spcAft>
              <a:buSzPts val="1400"/>
              <a:buFont typeface="Newsreader"/>
              <a:buChar char="●"/>
            </a:pPr>
            <a:r>
              <a:rPr lang="en" sz="1400" b="1">
                <a:latin typeface="Newsreader"/>
                <a:ea typeface="Newsreader"/>
                <a:cs typeface="Newsreader"/>
                <a:sym typeface="Newsreader"/>
              </a:rPr>
              <a:t>Keep it small:</a:t>
            </a:r>
            <a:r>
              <a:rPr lang="en" sz="1400">
                <a:latin typeface="Newsreader"/>
                <a:ea typeface="Newsreader"/>
                <a:cs typeface="Newsreader"/>
                <a:sym typeface="Newsreader"/>
              </a:rPr>
              <a:t> Three solver models give 27 sequences. Record each attempt and score final answers automatically.</a:t>
            </a:r>
            <a:endParaRPr sz="1400">
              <a:latin typeface="Newsreader"/>
              <a:ea typeface="Newsreader"/>
              <a:cs typeface="Newsreader"/>
              <a:sym typeface="Newsread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ewsreader"/>
                <a:ea typeface="Newsreader"/>
                <a:cs typeface="Newsreader"/>
                <a:sym typeface="Newsreader"/>
              </a:rPr>
              <a:t>5. Expected figure + what we learn</a:t>
            </a:r>
            <a:endParaRPr>
              <a:latin typeface="Newsreader"/>
              <a:ea typeface="Newsreader"/>
              <a:cs typeface="Newsreader"/>
              <a:sym typeface="Newsreader"/>
            </a:endParaRPr>
          </a:p>
        </p:txBody>
      </p:sp>
      <p:sp>
        <p:nvSpPr>
          <p:cNvPr id="475" name="Google Shape;475;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1">
                <a:latin typeface="Newsreader"/>
                <a:ea typeface="Newsreader"/>
                <a:cs typeface="Newsreader"/>
                <a:sym typeface="Newsreader"/>
              </a:rPr>
              <a:t>Planned figure:</a:t>
            </a:r>
            <a:r>
              <a:rPr lang="en" sz="1400">
                <a:latin typeface="Newsreader"/>
                <a:ea typeface="Newsreader"/>
                <a:cs typeface="Newsreader"/>
                <a:sym typeface="Newsreader"/>
              </a:rPr>
              <a:t> A line chart with cumulative profiling cost (USD) on the x-axis and accuracy gap from the exhaustively evaluated best sequence (percentage points; lower is better) on the y-axis. Plot AgentOpt Matrix UCB-E and random search, with a horizontal zero-gap reference line.</a:t>
            </a:r>
            <a:endParaRPr sz="1400">
              <a:latin typeface="Newsreader"/>
              <a:ea typeface="Newsreader"/>
              <a:cs typeface="Newsreader"/>
              <a:sym typeface="Newsreader"/>
            </a:endParaRPr>
          </a:p>
          <a:p>
            <a:pPr marL="457200" lvl="0" indent="0" algn="l" rtl="0">
              <a:spcBef>
                <a:spcPts val="1200"/>
              </a:spcBef>
              <a:spcAft>
                <a:spcPts val="1200"/>
              </a:spcAft>
              <a:buNone/>
            </a:pPr>
            <a:endParaRPr sz="1500">
              <a:latin typeface="Newsreader"/>
              <a:ea typeface="Newsreader"/>
              <a:cs typeface="Newsreader"/>
              <a:sym typeface="Newsreader"/>
            </a:endParaRPr>
          </a:p>
        </p:txBody>
      </p:sp>
      <p:sp>
        <p:nvSpPr>
          <p:cNvPr id="476" name="Google Shape;476;p80"/>
          <p:cNvSpPr txBox="1"/>
          <p:nvPr/>
        </p:nvSpPr>
        <p:spPr>
          <a:xfrm>
            <a:off x="197375" y="1989450"/>
            <a:ext cx="5228400" cy="26304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2"/>
              </a:buClr>
              <a:buSzPts val="1400"/>
              <a:buFont typeface="Newsreader"/>
              <a:buChar char="●"/>
            </a:pPr>
            <a:r>
              <a:rPr lang="en" b="1">
                <a:solidFill>
                  <a:schemeClr val="dk2"/>
                </a:solidFill>
                <a:latin typeface="Newsreader"/>
                <a:ea typeface="Newsreader"/>
                <a:cs typeface="Newsreader"/>
                <a:sym typeface="Newsreader"/>
              </a:rPr>
              <a:t>Supports our hypothesis:</a:t>
            </a:r>
            <a:r>
              <a:rPr lang="en">
                <a:solidFill>
                  <a:schemeClr val="dk2"/>
                </a:solidFill>
                <a:latin typeface="Newsreader"/>
                <a:ea typeface="Newsreader"/>
                <a:cs typeface="Newsreader"/>
                <a:sym typeface="Newsreader"/>
              </a:rPr>
              <a:t> Matrix UCB-E reaches a small accuracy gap at substantially lower profiling cost than random search.</a:t>
            </a:r>
            <a:endParaRPr>
              <a:solidFill>
                <a:schemeClr val="dk2"/>
              </a:solidFill>
              <a:latin typeface="Newsreader"/>
              <a:ea typeface="Newsreader"/>
              <a:cs typeface="Newsreader"/>
              <a:sym typeface="Newsreader"/>
            </a:endParaRPr>
          </a:p>
          <a:p>
            <a:pPr marL="457200" lvl="0" indent="-317500" algn="l" rtl="0">
              <a:lnSpc>
                <a:spcPct val="115000"/>
              </a:lnSpc>
              <a:spcBef>
                <a:spcPts val="0"/>
              </a:spcBef>
              <a:spcAft>
                <a:spcPts val="0"/>
              </a:spcAft>
              <a:buClr>
                <a:schemeClr val="dk2"/>
              </a:buClr>
              <a:buSzPts val="1400"/>
              <a:buFont typeface="Newsreader"/>
              <a:buChar char="●"/>
            </a:pPr>
            <a:r>
              <a:rPr lang="en" b="1">
                <a:solidFill>
                  <a:schemeClr val="dk2"/>
                </a:solidFill>
                <a:latin typeface="Newsreader"/>
                <a:ea typeface="Newsreader"/>
                <a:cs typeface="Newsreader"/>
                <a:sym typeface="Newsreader"/>
              </a:rPr>
              <a:t>Challenges our hypothesis:</a:t>
            </a:r>
            <a:r>
              <a:rPr lang="en">
                <a:solidFill>
                  <a:schemeClr val="dk2"/>
                </a:solidFill>
                <a:latin typeface="Newsreader"/>
                <a:ea typeface="Newsreader"/>
                <a:cs typeface="Newsreader"/>
                <a:sym typeface="Newsreader"/>
              </a:rPr>
              <a:t> Random search matches or beats Matrix UCB-E, or most solver sequences perform almost identically.</a:t>
            </a:r>
            <a:endParaRPr>
              <a:solidFill>
                <a:schemeClr val="dk2"/>
              </a:solidFill>
              <a:latin typeface="Newsreader"/>
              <a:ea typeface="Newsreader"/>
              <a:cs typeface="Newsreader"/>
              <a:sym typeface="Newsreader"/>
            </a:endParaRPr>
          </a:p>
          <a:p>
            <a:pPr marL="457200" lvl="0" indent="-317500" algn="l" rtl="0">
              <a:lnSpc>
                <a:spcPct val="115000"/>
              </a:lnSpc>
              <a:spcBef>
                <a:spcPts val="0"/>
              </a:spcBef>
              <a:spcAft>
                <a:spcPts val="0"/>
              </a:spcAft>
              <a:buClr>
                <a:schemeClr val="dk2"/>
              </a:buClr>
              <a:buSzPts val="1400"/>
              <a:buFont typeface="Newsreader"/>
              <a:buChar char="●"/>
            </a:pPr>
            <a:r>
              <a:rPr lang="en" b="1">
                <a:solidFill>
                  <a:schemeClr val="dk2"/>
                </a:solidFill>
                <a:latin typeface="Newsreader"/>
                <a:ea typeface="Newsreader"/>
                <a:cs typeface="Newsreader"/>
                <a:sym typeface="Newsreader"/>
              </a:rPr>
              <a:t>What we learn next:</a:t>
            </a:r>
            <a:r>
              <a:rPr lang="en">
                <a:solidFill>
                  <a:schemeClr val="dk2"/>
                </a:solidFill>
                <a:latin typeface="Newsreader"/>
                <a:ea typeface="Newsreader"/>
                <a:cs typeface="Newsreader"/>
                <a:sym typeface="Newsreader"/>
              </a:rPr>
              <a:t> If adaptive search helps, investigate how retry frequency and evaluation cost can guide it; if it does not, use the simpler method and examine why the sequences are hard to distinguish.</a:t>
            </a:r>
            <a:endParaRPr sz="1700">
              <a:solidFill>
                <a:schemeClr val="dk2"/>
              </a:solidFill>
            </a:endParaRPr>
          </a:p>
        </p:txBody>
      </p:sp>
      <p:pic>
        <p:nvPicPr>
          <p:cNvPr id="477" name="Google Shape;477;p80"/>
          <p:cNvPicPr preferRelativeResize="0"/>
          <p:nvPr/>
        </p:nvPicPr>
        <p:blipFill>
          <a:blip r:embed="rId3">
            <a:alphaModFix/>
          </a:blip>
          <a:stretch>
            <a:fillRect/>
          </a:stretch>
        </p:blipFill>
        <p:spPr>
          <a:xfrm>
            <a:off x="5149300" y="2329750"/>
            <a:ext cx="3537801" cy="1991049"/>
          </a:xfrm>
          <a:prstGeom prst="rect">
            <a:avLst/>
          </a:prstGeom>
          <a:noFill/>
          <a:ln>
            <a:noFill/>
          </a:ln>
        </p:spPr>
      </p:pic>
      <p:sp>
        <p:nvSpPr>
          <p:cNvPr id="478" name="Google Shape;478;p80"/>
          <p:cNvSpPr/>
          <p:nvPr/>
        </p:nvSpPr>
        <p:spPr>
          <a:xfrm>
            <a:off x="5288600" y="2329650"/>
            <a:ext cx="3463800" cy="1991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1674</Words>
  <Application>Microsoft Office PowerPoint</Application>
  <PresentationFormat>On-screen Show (16:9)</PresentationFormat>
  <Paragraphs>116</Paragraphs>
  <Slides>18</Slides>
  <Notes>18</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Lexend</vt:lpstr>
      <vt:lpstr>Arial</vt:lpstr>
      <vt:lpstr>Newsreader</vt:lpstr>
      <vt:lpstr>Simple Light</vt:lpstr>
      <vt:lpstr>Simple Light</vt:lpstr>
      <vt:lpstr>Related Work + First Experiment</vt:lpstr>
      <vt:lpstr>Updates + Next steps</vt:lpstr>
      <vt:lpstr>TODOs: September 25</vt:lpstr>
      <vt:lpstr>Present your work clearly</vt:lpstr>
      <vt:lpstr>[#]: [Project title]</vt:lpstr>
      <vt:lpstr>1. Closest related work</vt:lpstr>
      <vt:lpstr>2. Strongest baseline(s): why these?</vt:lpstr>
      <vt:lpstr>3. First experiment: question + claim</vt:lpstr>
      <vt:lpstr>4. First experiment: setup</vt:lpstr>
      <vt:lpstr>5. Expected figure + what we learn</vt:lpstr>
      <vt:lpstr>18: Cost-Efficient Search for Agentic Workflows with Retries</vt:lpstr>
      <vt:lpstr>1. Closest related work</vt:lpstr>
      <vt:lpstr>2. Strongest baseline(s): why these?</vt:lpstr>
      <vt:lpstr>Baseline 1: Matrix UCB-E (AgentOpt) </vt:lpstr>
      <vt:lpstr>Baseline 2: GittinsEval</vt:lpstr>
      <vt:lpstr>3. First experiment: question + claim</vt:lpstr>
      <vt:lpstr>4. First experiment: setup</vt:lpstr>
      <vt:lpstr>5. Expected figure + what we learn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Thomas Ajai</cp:lastModifiedBy>
  <cp:revision>1</cp:revision>
  <dcterms:modified xsi:type="dcterms:W3CDTF">2026-09-25T14:55:17Z</dcterms:modified>
</cp:coreProperties>
</file>